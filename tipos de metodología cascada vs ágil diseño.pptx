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Quattrocento Sans"/>
      <p:regular r:id="rId27"/>
      <p:bold r:id="rId28"/>
      <p:italic r:id="rId29"/>
      <p:boldItalic r:id="rId30"/>
    </p:embeddedFont>
    <p:embeddedFont>
      <p:font typeface="Century Gothic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WmpQ6JTBmXNfq85D/wUX45b4/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Gothic-regular.fnt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33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32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CenturyGothic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Google Shape;24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6" name="Google Shape;26;p20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Google Shape;40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2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2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8" name="Google Shape;48;p22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0" name="Google Shape;50;p22"/>
          <p:cNvSpPr txBox="1"/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6" name="Google Shape;66;p24"/>
          <p:cNvSpPr txBox="1"/>
          <p:nvPr>
            <p:ph idx="2" type="body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3" type="body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8" name="Google Shape;68;p24"/>
          <p:cNvSpPr txBox="1"/>
          <p:nvPr>
            <p:ph idx="4" type="body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2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4" name="Google Shape;84;p2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7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7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3" name="Google Shape;93;p27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4" name="Google Shape;94;p27"/>
          <p:cNvSpPr txBox="1"/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" type="body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2" type="body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7" name="Google Shape;97;p27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3" name="Google Shape;103;p2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8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8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8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2" name="Google Shape;112;p2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3" name="Google Shape;113;p28"/>
          <p:cNvSpPr txBox="1"/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/>
          <p:nvPr>
            <p:ph idx="2" type="pic"/>
          </p:nvPr>
        </p:nvSpPr>
        <p:spPr>
          <a:xfrm>
            <a:off x="6547870" y="1143000"/>
            <a:ext cx="3227193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6" name="Google Shape;116;p28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2" name="Google Shape;122;p2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9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9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0" name="Google Shape;130;p2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1" name="Google Shape;131;p29"/>
          <p:cNvSpPr txBox="1"/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/>
          <p:nvPr>
            <p:ph idx="2" type="pic"/>
          </p:nvPr>
        </p:nvSpPr>
        <p:spPr>
          <a:xfrm>
            <a:off x="1154954" y="685800"/>
            <a:ext cx="8825659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4" name="Google Shape;134;p2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0" name="Google Shape;140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0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0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8" name="Google Shape;148;p30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9" name="Google Shape;149;p30"/>
          <p:cNvSpPr txBox="1"/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1" name="Google Shape;151;p30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3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7" name="Google Shape;157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1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1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5" name="Google Shape;165;p3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6" name="Google Shape;166;p31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600" u="none" cap="none" strike="noStrik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7" name="Google Shape;167;p31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600" u="none" cap="none" strike="noStrik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68" name="Google Shape;168;p31"/>
          <p:cNvSpPr txBox="1"/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0" name="Google Shape;170;p31"/>
          <p:cNvSpPr txBox="1"/>
          <p:nvPr>
            <p:ph idx="2" type="body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1" name="Google Shape;171;p31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3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7" name="Google Shape;177;p3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2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2"/>
            <p:cNvSpPr/>
            <p:nvPr/>
          </p:nvSpPr>
          <p:spPr>
            <a:xfrm>
              <a:off x="455612" y="4241801"/>
              <a:ext cx="11277600" cy="2337161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5" name="Google Shape;185;p32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86" name="Google Shape;186;p32"/>
          <p:cNvSpPr txBox="1"/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95" name="Google Shape;195;p33"/>
          <p:cNvSpPr txBox="1"/>
          <p:nvPr>
            <p:ph idx="2" type="body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96" name="Google Shape;196;p33"/>
          <p:cNvSpPr txBox="1"/>
          <p:nvPr>
            <p:ph idx="3" type="body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97" name="Google Shape;197;p33"/>
          <p:cNvSpPr txBox="1"/>
          <p:nvPr>
            <p:ph idx="4" type="body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98" name="Google Shape;198;p33"/>
          <p:cNvSpPr txBox="1"/>
          <p:nvPr>
            <p:ph idx="5" type="body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99" name="Google Shape;199;p33"/>
          <p:cNvSpPr txBox="1"/>
          <p:nvPr>
            <p:ph idx="6" type="body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0" name="Google Shape;200;p33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33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3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8" name="Google Shape;208;p34"/>
          <p:cNvSpPr/>
          <p:nvPr>
            <p:ph idx="2" type="pic"/>
          </p:nvPr>
        </p:nvSpPr>
        <p:spPr>
          <a:xfrm>
            <a:off x="1334553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09" name="Google Shape;209;p34"/>
          <p:cNvSpPr txBox="1"/>
          <p:nvPr>
            <p:ph idx="3" type="body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0" name="Google Shape;210;p34"/>
          <p:cNvSpPr txBox="1"/>
          <p:nvPr>
            <p:ph idx="4" type="body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1" name="Google Shape;211;p34"/>
          <p:cNvSpPr/>
          <p:nvPr>
            <p:ph idx="5" type="pic"/>
          </p:nvPr>
        </p:nvSpPr>
        <p:spPr>
          <a:xfrm>
            <a:off x="4748462" y="2603500"/>
            <a:ext cx="2691243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2" name="Google Shape;212;p34"/>
          <p:cNvSpPr txBox="1"/>
          <p:nvPr>
            <p:ph idx="6" type="body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3" name="Google Shape;213;p34"/>
          <p:cNvSpPr txBox="1"/>
          <p:nvPr>
            <p:ph idx="7" type="body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4" name="Google Shape;214;p34"/>
          <p:cNvSpPr/>
          <p:nvPr>
            <p:ph idx="8" type="pic"/>
          </p:nvPr>
        </p:nvSpPr>
        <p:spPr>
          <a:xfrm>
            <a:off x="8163031" y="2603500"/>
            <a:ext cx="2691242" cy="159151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215" name="Google Shape;215;p34"/>
          <p:cNvSpPr txBox="1"/>
          <p:nvPr>
            <p:ph idx="9" type="body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16" name="Google Shape;216;p34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34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34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11" type="ftr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10" type="dt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3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9" name="Google Shape;229;p3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6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6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38" name="Google Shape;238;p36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39" name="Google Shape;239;p36"/>
          <p:cNvSpPr txBox="1"/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1" name="Google Shape;241;p36"/>
          <p:cNvSpPr txBox="1"/>
          <p:nvPr>
            <p:ph idx="10" type="dt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6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Google Shape;7;p1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7"/>
                  </a:srgbClr>
                </a:gs>
                <a:gs pos="36000">
                  <a:srgbClr val="9B6BF2">
                    <a:alpha val="7058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9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9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" name="Google Shape;15;p1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" name="Google Shape;16;p19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</a:pPr>
            <a:r>
              <a:rPr lang="es-ES" sz="4000">
                <a:latin typeface="Calibri"/>
                <a:ea typeface="Calibri"/>
                <a:cs typeface="Calibri"/>
                <a:sym typeface="Calibri"/>
              </a:rPr>
              <a:t> tipos de metodología cascada vs ágil diseño de sistema.</a:t>
            </a:r>
            <a:br>
              <a:rPr lang="es-E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50" name="Google Shape;250;p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"/>
          <p:cNvSpPr txBox="1"/>
          <p:nvPr>
            <p:ph type="title"/>
          </p:nvPr>
        </p:nvSpPr>
        <p:spPr>
          <a:xfrm>
            <a:off x="1154954" y="83820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s-ES" sz="1800">
                <a:latin typeface="Calibri"/>
                <a:ea typeface="Calibri"/>
                <a:cs typeface="Calibri"/>
                <a:sym typeface="Calibri"/>
              </a:rPr>
            </a:br>
            <a:r>
              <a:rPr lang="es-ES">
                <a:latin typeface="Calibri"/>
                <a:ea typeface="Calibri"/>
                <a:cs typeface="Calibri"/>
                <a:sym typeface="Calibri"/>
              </a:rPr>
              <a:t>metodología cascada diseño de sistem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a </a:t>
            </a:r>
            <a:br>
              <a:rPr lang="es-E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56" name="Google Shape;256;p2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0" i="0" lang="es-ES" sz="2400" u="none" strike="noStrike">
                <a:solidFill>
                  <a:srgbClr val="1C2128"/>
                </a:solidFill>
                <a:latin typeface="Roboto"/>
                <a:ea typeface="Roboto"/>
                <a:cs typeface="Roboto"/>
                <a:sym typeface="Roboto"/>
              </a:rPr>
              <a:t>La </a:t>
            </a:r>
            <a:r>
              <a:rPr b="1" i="0" lang="es-ES" sz="2400" u="none" strike="noStrike">
                <a:solidFill>
                  <a:srgbClr val="1C2128"/>
                </a:solidFill>
                <a:latin typeface="Roboto"/>
                <a:ea typeface="Roboto"/>
                <a:cs typeface="Roboto"/>
                <a:sym typeface="Roboto"/>
              </a:rPr>
              <a:t>metodología cascada</a:t>
            </a:r>
            <a:r>
              <a:rPr b="0" i="0" lang="es-ES" sz="2400" u="none" strike="noStrike">
                <a:solidFill>
                  <a:srgbClr val="1C2128"/>
                </a:solidFill>
                <a:latin typeface="Roboto"/>
                <a:ea typeface="Roboto"/>
                <a:cs typeface="Roboto"/>
                <a:sym typeface="Roboto"/>
              </a:rPr>
              <a:t> es un enfoque de desarrollo de software que organiza el proceso en fases secuenciales. Cada fase debe completarse antes de pasar a la siguiente, lo que permite una planificación clara y un control sobre los plazos y presupuestos. 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pic>
        <p:nvPicPr>
          <p:cNvPr id="257" name="Google Shape;2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958" y="4311650"/>
            <a:ext cx="22098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63" name="Google Shape;263;p3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0" i="0" lang="es-ES" sz="2400" u="none" strike="noStrike">
                <a:solidFill>
                  <a:srgbClr val="1C2128"/>
                </a:solidFill>
                <a:latin typeface="Roboto"/>
                <a:ea typeface="Roboto"/>
                <a:cs typeface="Roboto"/>
                <a:sym typeface="Roboto"/>
              </a:rPr>
              <a:t> Este modelo es útil en proyectos donde los requisitos son estables y bien definidos desde el inicio. Sin embargo, su rigidez puede ser un inconveniente si se requieren cambios durante el desarrollo.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pic>
        <p:nvPicPr>
          <p:cNvPr id="264" name="Google Shape;2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6139" y="4010585"/>
            <a:ext cx="19716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características</a:t>
            </a:r>
            <a:endParaRPr/>
          </a:p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i="0" lang="es-ES" sz="2000">
                <a:latin typeface="Roboto"/>
                <a:ea typeface="Roboto"/>
                <a:cs typeface="Roboto"/>
                <a:sym typeface="Roboto"/>
              </a:rPr>
              <a:t>Estructura unidireccional estricta</a:t>
            </a: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: Cada fase debe completarse en orden sin poder volver atrás.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i="0" lang="es-ES" sz="2000">
                <a:latin typeface="Roboto"/>
                <a:ea typeface="Roboto"/>
                <a:cs typeface="Roboto"/>
                <a:sym typeface="Roboto"/>
              </a:rPr>
              <a:t>Poca o ninguna intervención por las partes interesadas después de la primera etapa</a:t>
            </a: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: Se deben documentar todas las interacciones en la primera etapa.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271" name="Google Shape;2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4979" y="4169832"/>
            <a:ext cx="26574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77" name="Google Shape;277;p5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i="0" lang="es-ES" sz="2000">
                <a:latin typeface="Roboto"/>
                <a:ea typeface="Roboto"/>
                <a:cs typeface="Roboto"/>
                <a:sym typeface="Roboto"/>
              </a:rPr>
              <a:t>Documentación detallada y anticipada de todo el proceso</a:t>
            </a: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: La información se pasa fácilmente de una fase a otra.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i="0" lang="es-ES" sz="2000">
                <a:latin typeface="Roboto"/>
                <a:ea typeface="Roboto"/>
                <a:cs typeface="Roboto"/>
                <a:sym typeface="Roboto"/>
              </a:rPr>
              <a:t>Estructura clara y planificada</a:t>
            </a: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: La calidad de la planificación inicial define el resultado final.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2000">
              <a:latin typeface="Roboto"/>
              <a:ea typeface="Roboto"/>
              <a:cs typeface="Roboto"/>
              <a:sym typeface="Roboto"/>
            </a:endParaRPr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278" name="Google Shape;2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8100" y="3876115"/>
            <a:ext cx="22479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►"/>
            </a:pPr>
            <a:r>
              <a:rPr b="1" i="0" lang="es-ES" sz="2800" u="none" strike="noStrike">
                <a:latin typeface="Roboto"/>
                <a:ea typeface="Roboto"/>
                <a:cs typeface="Roboto"/>
                <a:sym typeface="Roboto"/>
              </a:rPr>
              <a:t>Aplicabilidad en diversos tipos de proyectos</a:t>
            </a:r>
            <a:r>
              <a:rPr b="0" i="0" lang="es-ES" sz="2800" u="none" strike="noStrike">
                <a:latin typeface="Roboto"/>
                <a:ea typeface="Roboto"/>
                <a:cs typeface="Roboto"/>
                <a:sym typeface="Roboto"/>
              </a:rPr>
              <a:t>: Aunque originada en la construcción y la fabricación, se aplica frecuentemente en el ciclo de vida de proyectos relacionados con el desarrollo de sistemas (SDLC) para proyectos de ingeniería de software y TI.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Tipos </a:t>
            </a:r>
            <a:endParaRPr/>
          </a:p>
        </p:txBody>
      </p:sp>
      <p:sp>
        <p:nvSpPr>
          <p:cNvPr id="290" name="Google Shape;290;p7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Sistemas de software</a:t>
            </a:r>
            <a:r>
              <a:rPr b="0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: Se utilizan para el desarrollo de aplicaciones y sistemas operativos, donde los requisitos son precisos y se requiere un proceso de desarrollo secuencial. 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Sistemas de ingeniería</a:t>
            </a:r>
            <a:r>
              <a:rPr b="0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: Se aplican en proyectos de ingeniería donde se requiere un diseño y desarrollo estructurados y secuenciados</a:t>
            </a:r>
            <a:r>
              <a:rPr lang="es-ES" sz="2800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Sistemas de producción</a:t>
            </a:r>
            <a:r>
              <a:rPr b="0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: Se utilizan en la fabricación y producción, donde cada etapa del proceso debe completarse antes de avanzar a la siguiente.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1" i="0" lang="es-ES" sz="24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Sistemas de producción</a:t>
            </a:r>
            <a:r>
              <a:rPr b="0" i="0" lang="es-ES" sz="24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: Se utilizan en la fabricación y producción, donde cada etapa del proceso debe completarse antes de avanzar a la siguiente.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297" name="Google Shape;2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020" y="3728197"/>
            <a:ext cx="2476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303" name="Google Shape;303;p9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►"/>
            </a:pPr>
            <a:r>
              <a:rPr b="0" i="0" lang="es-ES" sz="2800" u="none" strike="noStrike">
                <a:solidFill>
                  <a:srgbClr val="161412"/>
                </a:solidFill>
                <a:latin typeface="Roboto"/>
                <a:ea typeface="Roboto"/>
                <a:cs typeface="Roboto"/>
                <a:sym typeface="Roboto"/>
              </a:rPr>
              <a:t>La metodología cascada es una herramienta valiosa para proyectos que requieren un enfoque estructurado y planificado, pero es importante considerar las necesidades específicas del proyecto y elegir el tipo de metodología adecuada para maximizar la efectividad y reducir los riesgos.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</a:pPr>
            <a:br>
              <a:rPr lang="es-ES">
                <a:latin typeface="Calibri"/>
                <a:ea typeface="Calibri"/>
                <a:cs typeface="Calibri"/>
                <a:sym typeface="Calibri"/>
              </a:rPr>
            </a:b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 ágil diseño de sistema.</a:t>
            </a:r>
            <a:br>
              <a:rPr lang="es-ES" sz="16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09" name="Google Shape;309;p10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s-ES" sz="2000"/>
              <a:t>Que es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El </a:t>
            </a:r>
            <a:r>
              <a:rPr b="1" i="0" lang="es-ES" sz="2000">
                <a:latin typeface="Roboto"/>
                <a:ea typeface="Roboto"/>
                <a:cs typeface="Roboto"/>
                <a:sym typeface="Roboto"/>
              </a:rPr>
              <a:t>diseño ágil de sistemas</a:t>
            </a: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 se basa en principios de desarrollo ágil, que priorizan la flexibilidad, la colaboración y la entrega rápida de valor.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Roboto"/>
                <a:ea typeface="Roboto"/>
                <a:cs typeface="Roboto"/>
                <a:sym typeface="Roboto"/>
              </a:rPr>
              <a:t>Metodologías</a:t>
            </a:r>
            <a:r>
              <a:rPr b="0" i="0" lang="es-ES" sz="2000" u="none" strike="noStrike">
                <a:latin typeface="Roboto"/>
                <a:ea typeface="Roboto"/>
                <a:cs typeface="Roboto"/>
                <a:sym typeface="Roboto"/>
              </a:rPr>
              <a:t>: Se utilizan enfoques como Scrum y Kanban para organizar proyectos en ciclos cortos, permitiendo adaptar los requisitos según las necesidades del cliente.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 u="none" strike="noStrike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263" y="4582365"/>
            <a:ext cx="317182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i="0" lang="es-ES" sz="1800" u="none" strike="noStrike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s-ES" sz="2400" u="none" strike="noStrike">
                <a:latin typeface="Roboto"/>
                <a:ea typeface="Roboto"/>
                <a:cs typeface="Roboto"/>
                <a:sym typeface="Roboto"/>
              </a:rPr>
              <a:t>rquitectura</a:t>
            </a:r>
            <a:r>
              <a:rPr b="0" i="0" lang="es-ES" sz="2400" u="none" strike="noStrike">
                <a:latin typeface="Roboto"/>
                <a:ea typeface="Roboto"/>
                <a:cs typeface="Roboto"/>
                <a:sym typeface="Roboto"/>
              </a:rPr>
              <a:t>: La arquitectura ágil se centra en sistemas escalables y robustos, promoviendo la modularidad y la adaptabilidad.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454" y="3660962"/>
            <a:ext cx="226695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Roboto"/>
                <a:ea typeface="Roboto"/>
                <a:cs typeface="Roboto"/>
                <a:sym typeface="Roboto"/>
              </a:rPr>
              <a:t>Participación del cliente</a:t>
            </a:r>
            <a:r>
              <a:rPr b="0" i="0" lang="es-ES" sz="2000" u="none" strike="noStrike">
                <a:latin typeface="Roboto"/>
                <a:ea typeface="Roboto"/>
                <a:cs typeface="Roboto"/>
                <a:sym typeface="Roboto"/>
              </a:rPr>
              <a:t>: La participación activa del cliente en cada entrega mejora la calidad del producto y evita sorpresas desagradables.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Roboto"/>
                <a:ea typeface="Roboto"/>
                <a:cs typeface="Roboto"/>
                <a:sym typeface="Roboto"/>
              </a:rPr>
              <a:t>Iteración continua</a:t>
            </a:r>
            <a:r>
              <a:rPr b="0" i="0" lang="es-ES" sz="2000" u="none" strike="noStrike">
                <a:latin typeface="Roboto"/>
                <a:ea typeface="Roboto"/>
                <a:cs typeface="Roboto"/>
                <a:sym typeface="Roboto"/>
              </a:rPr>
              <a:t>: Los equipos ágiles trabajan en iteraciones constantes, ajustando su estrategia según el feedback y los cambios en los requisitos.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1387" y="4169832"/>
            <a:ext cx="23622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Roboto"/>
                <a:ea typeface="Roboto"/>
                <a:cs typeface="Roboto"/>
                <a:sym typeface="Roboto"/>
              </a:rPr>
              <a:t>Diseño colaborativo</a:t>
            </a:r>
            <a:r>
              <a:rPr b="0" i="0" lang="es-ES" sz="2000" u="none" strike="noStrike">
                <a:latin typeface="Roboto"/>
                <a:ea typeface="Roboto"/>
                <a:cs typeface="Roboto"/>
                <a:sym typeface="Roboto"/>
              </a:rPr>
              <a:t>: El diseño ágil fomenta la colaboración entre diseñadores, desarrolladores y propietarios de productos, mejorando la coherencia y la experiencia del usuario.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s-ES" sz="2000">
                <a:latin typeface="Roboto"/>
                <a:ea typeface="Roboto"/>
                <a:cs typeface="Roboto"/>
                <a:sym typeface="Roboto"/>
              </a:rPr>
              <a:t>Estos principios ayudan a crear productos de alta calidad y a responder rápidamente a las demandas del mercado.</a:t>
            </a:r>
            <a:endParaRPr sz="2000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331" name="Google Shape;3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122" y="4596093"/>
            <a:ext cx="32194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Características</a:t>
            </a:r>
            <a:endParaRPr/>
          </a:p>
        </p:txBody>
      </p:sp>
      <p:sp>
        <p:nvSpPr>
          <p:cNvPr id="337" name="Google Shape;337;p14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0" i="0" lang="es-ES" sz="2000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El diseño ágil se basa en principios que priorizan la flexibilidad, la colaboración y la entrega continua de valor al cliente. Algunas de las características clave del diseño ágil son: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Diseño centrado en el usuario</a:t>
            </a:r>
            <a:r>
              <a:rPr b="0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: Se diseñan software y sistemas teniendo en cuenta las necesidades y preferencias del usuario, involucrándolo en el proceso de diseño.</a:t>
            </a:r>
            <a:endParaRPr sz="2000" u="none" strike="noStrike">
              <a:solidFill>
                <a:srgbClr val="18181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8" name="Google Shape;3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5522" y="4427444"/>
            <a:ext cx="22002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Diseño iterativo e incremental</a:t>
            </a:r>
            <a:r>
              <a:rPr b="0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: Se realizan ciclos de desarrollo cortos y repetitivos, donde cada ciclo produce un incremento funcional del producto, permitiendo una evolución gradual y constante.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i="0" sz="2000" u="none" strike="noStrike">
              <a:solidFill>
                <a:srgbClr val="18181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Diseño centrado en la retroalimentación</a:t>
            </a:r>
            <a:r>
              <a:rPr b="0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: Se valora la retroalimentación constante del cliente y se ajusta el diseño en consecuencia para maximizar la satisfacción del cliente.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s-ES" sz="2000" u="none" strike="noStrike">
                <a:solidFill>
                  <a:srgbClr val="18181B"/>
                </a:solidFill>
                <a:latin typeface="Roboto"/>
                <a:ea typeface="Roboto"/>
                <a:cs typeface="Roboto"/>
                <a:sym typeface="Roboto"/>
              </a:rPr>
              <a:t>Estas características permiten a los equipos ágiles adaptarse rápidamente a los cambios y responder de manera efectiva a las demandas cambiantes, lo que resulta en un software y sistema que sean adaptables, utilizables y mantenibles.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Elementos </a:t>
            </a:r>
            <a:endParaRPr/>
          </a:p>
        </p:txBody>
      </p:sp>
      <p:sp>
        <p:nvSpPr>
          <p:cNvPr id="350" name="Google Shape;350;p16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0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El </a:t>
            </a:r>
            <a:r>
              <a:rPr b="1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diseño ágil</a:t>
            </a:r>
            <a:r>
              <a:rPr b="0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 se basa en principios que priorizan la </a:t>
            </a:r>
            <a:r>
              <a:rPr b="1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flexibilidad</a:t>
            </a:r>
            <a:r>
              <a:rPr b="0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, la </a:t>
            </a:r>
            <a:r>
              <a:rPr b="1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colaboración</a:t>
            </a:r>
            <a:r>
              <a:rPr b="0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 y la </a:t>
            </a:r>
            <a:r>
              <a:rPr b="1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mejora continua</a:t>
            </a:r>
            <a:r>
              <a:rPr b="0" i="0" lang="es-ES" sz="2000">
                <a:latin typeface="Quattrocento Sans"/>
                <a:ea typeface="Quattrocento Sans"/>
                <a:cs typeface="Quattrocento Sans"/>
                <a:sym typeface="Quattrocento Sans"/>
              </a:rPr>
              <a:t>. Algunos elementos clave incluyen: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Diseño centrado en el usuario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: Involucra a los usuarios en el proceso de diseño para entender sus necesidades y preferencias.</a:t>
            </a:r>
            <a:endParaRPr sz="2000" u="none" strike="noStrike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Diseño iterativo e incremental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: Se realizan entregas en ciclos cortos, permitiendo ajustes y retroalimentación constantes.</a:t>
            </a:r>
            <a:endParaRPr b="0" i="0" sz="2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Colaboración constante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: Los equipos trabajan juntos para resolver problemas y adaptarse a los cambios.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Mejora continua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: Se evalúan y mejoran los productos a medida que se desarrollan, en lugar de esperar a la entrega final.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Estos principios ayudan a crear sistemas que sean </a:t>
            </a: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adaptativos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, </a:t>
            </a: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utilizables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 y </a:t>
            </a:r>
            <a:r>
              <a:rPr b="1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mantenibles</a:t>
            </a:r>
            <a:r>
              <a:rPr b="0" i="0" lang="es-ES" sz="2000" u="none" strike="noStrike">
                <a:latin typeface="Quattrocento Sans"/>
                <a:ea typeface="Quattrocento Sans"/>
                <a:cs typeface="Quattrocento Sans"/>
                <a:sym typeface="Quattrocento Sans"/>
              </a:rPr>
              <a:t>, satisfaciendo las expectativas de los usuarios y partes interesadas. 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  <p:pic>
        <p:nvPicPr>
          <p:cNvPr id="357" name="Google Shape;3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2713" y="4168868"/>
            <a:ext cx="333375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 txBox="1"/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363" name="Google Shape;363;p18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s-ES" sz="2000" u="none" strike="noStrike">
                <a:latin typeface="Roboto"/>
                <a:ea typeface="Roboto"/>
                <a:cs typeface="Roboto"/>
                <a:sym typeface="Roboto"/>
              </a:rPr>
              <a:t>Scrum es un marco de trabajo ágil que ayuda a equipos a gestionar proyectos complejos de manera colaborativa y iterativa. Se basa en principios como la transparencia, la inspección y la adaptación, y se estructura en ciclos cortos llamados sprints. Durante cada sprint, el equipo desarrolla una parte del producto que es potencialmente entregable, permitiendo una entrega temprana y frecuente de valor al cliente. Scrum se aplica en diversos ámbitos, desde el desarrollo de software hasta la gestión de proyectos en general, y se basa en la inteligencia colectiva y la autoorganización del equipo.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la de reuniones Ion">
  <a:themeElements>
    <a:clrScheme name="Sala de reuniones Ion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2026-02-18T20:59:02Z</dcterms:created>
  <dc:creator>Diego</dc:creator>
</cp:coreProperties>
</file>