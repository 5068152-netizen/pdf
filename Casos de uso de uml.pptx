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3208728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1576523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289895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4044263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4684BAD-66C5-44BC-80E9-C889BC1FB104}" type="datetimeFigureOut">
              <a:rPr lang="es-SV" smtClean="0"/>
              <a:t>9/3/2026</a:t>
            </a:fld>
            <a:endParaRPr lang="es-SV"/>
          </a:p>
        </p:txBody>
      </p:sp>
      <p:sp>
        <p:nvSpPr>
          <p:cNvPr id="8" name="Footer Placeholder 7"/>
          <p:cNvSpPr>
            <a:spLocks noGrp="1"/>
          </p:cNvSpPr>
          <p:nvPr>
            <p:ph type="ftr" sz="quarter" idx="11"/>
          </p:nvPr>
        </p:nvSpPr>
        <p:spPr/>
        <p:txBody>
          <a:bodyPr/>
          <a:lstStyle/>
          <a:p>
            <a:endParaRPr lang="es-SV"/>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3043806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4684BAD-66C5-44BC-80E9-C889BC1FB104}" type="datetimeFigureOut">
              <a:rPr lang="es-SV" smtClean="0"/>
              <a:t>9/3/2026</a:t>
            </a:fld>
            <a:endParaRPr lang="es-SV"/>
          </a:p>
        </p:txBody>
      </p:sp>
      <p:sp>
        <p:nvSpPr>
          <p:cNvPr id="4" name="Footer Placeholder 3"/>
          <p:cNvSpPr>
            <a:spLocks noGrp="1"/>
          </p:cNvSpPr>
          <p:nvPr>
            <p:ph type="ftr" sz="quarter" idx="11"/>
          </p:nvPr>
        </p:nvSpPr>
        <p:spPr/>
        <p:txBody>
          <a:bodyPr/>
          <a:lstStyle/>
          <a:p>
            <a:endParaRPr lang="es-SV"/>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218644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684BAD-66C5-44BC-80E9-C889BC1FB104}" type="datetimeFigureOut">
              <a:rPr lang="es-SV" smtClean="0"/>
              <a:t>9/3/2026</a:t>
            </a:fld>
            <a:endParaRPr lang="es-SV"/>
          </a:p>
        </p:txBody>
      </p:sp>
      <p:sp>
        <p:nvSpPr>
          <p:cNvPr id="3" name="Footer Placeholder 2"/>
          <p:cNvSpPr>
            <a:spLocks noGrp="1"/>
          </p:cNvSpPr>
          <p:nvPr>
            <p:ph type="ftr" sz="quarter" idx="11"/>
          </p:nvPr>
        </p:nvSpPr>
        <p:spPr/>
        <p:txBody>
          <a:bodyPr/>
          <a:lstStyle/>
          <a:p>
            <a:endParaRPr lang="es-SV"/>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3212900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870182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723422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83333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C11B33-678B-4766-9A5B-8D4A8375FA3B}" type="slidenum">
              <a:rPr lang="es-SV" smtClean="0"/>
              <a:t>‹Nº›</a:t>
            </a:fld>
            <a:endParaRPr lang="es-SV"/>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18010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3169769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C11B33-678B-4766-9A5B-8D4A8375FA3B}" type="slidenum">
              <a:rPr lang="es-SV" smtClean="0"/>
              <a:t>‹Nº›</a:t>
            </a:fld>
            <a:endParaRPr lang="es-SV"/>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82615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4684BAD-66C5-44BC-80E9-C889BC1FB104}" type="datetimeFigureOut">
              <a:rPr lang="es-SV" smtClean="0"/>
              <a:t>9/3/2026</a:t>
            </a:fld>
            <a:endParaRPr lang="es-SV"/>
          </a:p>
        </p:txBody>
      </p:sp>
      <p:sp>
        <p:nvSpPr>
          <p:cNvPr id="6" name="Footer Placeholder 5"/>
          <p:cNvSpPr>
            <a:spLocks noGrp="1"/>
          </p:cNvSpPr>
          <p:nvPr>
            <p:ph type="ftr" sz="quarter" idx="11"/>
          </p:nvPr>
        </p:nvSpPr>
        <p:spPr/>
        <p:txBody>
          <a:bodyPr/>
          <a:lstStyle/>
          <a:p>
            <a:endParaRPr lang="es-SV"/>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920125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402659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4684BAD-66C5-44BC-80E9-C889BC1FB104}" type="datetimeFigureOut">
              <a:rPr lang="es-SV" smtClean="0"/>
              <a:t>9/3/2026</a:t>
            </a:fld>
            <a:endParaRPr lang="es-SV"/>
          </a:p>
        </p:txBody>
      </p:sp>
      <p:sp>
        <p:nvSpPr>
          <p:cNvPr id="5" name="Footer Placeholder 4"/>
          <p:cNvSpPr>
            <a:spLocks noGrp="1"/>
          </p:cNvSpPr>
          <p:nvPr>
            <p:ph type="ftr" sz="quarter" idx="11"/>
          </p:nvPr>
        </p:nvSpPr>
        <p:spPr/>
        <p:txBody>
          <a:bodyPr/>
          <a:lstStyle/>
          <a:p>
            <a:endParaRPr lang="es-SV"/>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C11B33-678B-4766-9A5B-8D4A8375FA3B}" type="slidenum">
              <a:rPr lang="es-SV" smtClean="0"/>
              <a:t>‹Nº›</a:t>
            </a:fld>
            <a:endParaRPr lang="es-SV"/>
          </a:p>
        </p:txBody>
      </p:sp>
    </p:spTree>
    <p:extLst>
      <p:ext uri="{BB962C8B-B14F-4D97-AF65-F5344CB8AC3E}">
        <p14:creationId xmlns:p14="http://schemas.microsoft.com/office/powerpoint/2010/main" val="257886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684BAD-66C5-44BC-80E9-C889BC1FB104}" type="datetimeFigureOut">
              <a:rPr lang="es-SV" smtClean="0"/>
              <a:t>9/3/2026</a:t>
            </a:fld>
            <a:endParaRPr lang="es-SV"/>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SV"/>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4C11B33-678B-4766-9A5B-8D4A8375FA3B}" type="slidenum">
              <a:rPr lang="es-SV" smtClean="0"/>
              <a:t>‹Nº›</a:t>
            </a:fld>
            <a:endParaRPr lang="es-SV"/>
          </a:p>
        </p:txBody>
      </p:sp>
    </p:spTree>
    <p:extLst>
      <p:ext uri="{BB962C8B-B14F-4D97-AF65-F5344CB8AC3E}">
        <p14:creationId xmlns:p14="http://schemas.microsoft.com/office/powerpoint/2010/main" val="335106250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ing.com/ck/a?!&amp;&amp;p=e398fd201554149e7faa978a66f8d76b91e5a3a76a80e30ee33cb0e20b2ada7eJmltdHM9MTc3MzAxNDQwMA&amp;ptn=3&amp;ver=2&amp;hsh=4&amp;fclid=3b96f995-c874-6206-0229-ef6ac96e632a&amp;psq=casos+de+usos+de+uml&amp;u=a1aHR0cHM6Ly93d3cuZ3VydTk5LmNvbS9lcy91c2UtY2FzZS1kaWFncmFtcy1leGFtcGxlLmh0bWw&amp;ntb=1" TargetMode="External"/><Relationship Id="rId2" Type="http://schemas.openxmlformats.org/officeDocument/2006/relationships/hyperlink" Target="https://www.bing.com/ck/a?!&amp;&amp;p=e2a6fcabfc19ef8e88f786773793965192a98cb3e57b36691d3def84e22a1df8JmltdHM9MTc3MzAxNDQwMA&amp;ptn=3&amp;ver=2&amp;hsh=4&amp;fclid=3b96f995-c874-6206-0229-ef6ac96e632a&amp;psq=casos+de+usos+de+uml&amp;u=a1aHR0cHM6Ly9kaWFncmFtYXN1bWwuY29tL2Nhc29zLWRlLXVzby8&amp;ntb=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bing.com/ck/a?!&amp;&amp;p=7ac111839b8868535bdebcc77ac1a4b435164a837d4e4d8dd6f8f54f43e7b586JmltdHM9MTc3MzAxNDQwMA&amp;ptn=3&amp;ver=2&amp;hsh=4&amp;fclid=3b96f995-c874-6206-0229-ef6ac96e632a&amp;psq=casos+de+usos+de+uml&amp;u=a1aHR0cHM6Ly9tb2RvZGVidWcuY29tL2RpYWdyYW1hcy1jYXNvcy1kZS11c28v&amp;ntb=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bing.com/ck/a?!&amp;&amp;p=31b23b80baad14d57fd26f57da7d76077601a9374e730d0d1f62939b27b81bedJmltdHM9MTc3MzAxNDQwMA&amp;ptn=3&amp;ver=2&amp;hsh=4&amp;fclid=3b96f995-c874-6206-0229-ef6ac96e632a&amp;psq=+sistemas+software&amp;u=a1aHR0cHM6Ly9jb25jZXB0by5kZS9zb2Z0d2FyZS1kZS1zaXN0ZW1hLw&amp;ntb=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48691-4415-82A0-F17F-3308E37E69BD}"/>
              </a:ext>
            </a:extLst>
          </p:cNvPr>
          <p:cNvSpPr>
            <a:spLocks noGrp="1"/>
          </p:cNvSpPr>
          <p:nvPr>
            <p:ph type="ctrTitle"/>
          </p:nvPr>
        </p:nvSpPr>
        <p:spPr/>
        <p:txBody>
          <a:bodyPr/>
          <a:lstStyle/>
          <a:p>
            <a:r>
              <a:rPr lang="es-SV" dirty="0"/>
              <a:t>Casos de uso de </a:t>
            </a:r>
            <a:r>
              <a:rPr lang="es-SV" dirty="0" err="1"/>
              <a:t>uml</a:t>
            </a:r>
            <a:endParaRPr lang="es-SV" dirty="0"/>
          </a:p>
        </p:txBody>
      </p:sp>
      <p:sp>
        <p:nvSpPr>
          <p:cNvPr id="3" name="Subtítulo 2">
            <a:extLst>
              <a:ext uri="{FF2B5EF4-FFF2-40B4-BE49-F238E27FC236}">
                <a16:creationId xmlns:a16="http://schemas.microsoft.com/office/drawing/2014/main" id="{65E0187A-D341-5838-D597-C30304243045}"/>
              </a:ext>
            </a:extLst>
          </p:cNvPr>
          <p:cNvSpPr>
            <a:spLocks noGrp="1"/>
          </p:cNvSpPr>
          <p:nvPr>
            <p:ph type="subTitle" idx="1"/>
          </p:nvPr>
        </p:nvSpPr>
        <p:spPr/>
        <p:txBody>
          <a:bodyPr/>
          <a:lstStyle/>
          <a:p>
            <a:endParaRPr lang="es-SV"/>
          </a:p>
        </p:txBody>
      </p:sp>
    </p:spTree>
    <p:extLst>
      <p:ext uri="{BB962C8B-B14F-4D97-AF65-F5344CB8AC3E}">
        <p14:creationId xmlns:p14="http://schemas.microsoft.com/office/powerpoint/2010/main" val="3523054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CBF305-001F-D37C-D8A2-93C020432A8F}"/>
              </a:ext>
            </a:extLst>
          </p:cNvPr>
          <p:cNvSpPr>
            <a:spLocks noGrp="1"/>
          </p:cNvSpPr>
          <p:nvPr>
            <p:ph type="title"/>
          </p:nvPr>
        </p:nvSpPr>
        <p:spPr>
          <a:xfrm>
            <a:off x="2663824" y="638397"/>
            <a:ext cx="8911687" cy="1280890"/>
          </a:xfrm>
        </p:spPr>
        <p:txBody>
          <a:bodyPr>
            <a:normAutofit/>
          </a:bodyPr>
          <a:lstStyle/>
          <a:p>
            <a:r>
              <a:rPr lang="es-SV" sz="2800" dirty="0"/>
              <a:t>Casos de uso de </a:t>
            </a:r>
            <a:r>
              <a:rPr lang="es-SV" sz="2800" dirty="0" err="1"/>
              <a:t>uml</a:t>
            </a:r>
            <a:endParaRPr lang="es-SV" sz="2800" dirty="0"/>
          </a:p>
        </p:txBody>
      </p:sp>
      <p:sp>
        <p:nvSpPr>
          <p:cNvPr id="3" name="Marcador de contenido 2">
            <a:extLst>
              <a:ext uri="{FF2B5EF4-FFF2-40B4-BE49-F238E27FC236}">
                <a16:creationId xmlns:a16="http://schemas.microsoft.com/office/drawing/2014/main" id="{770AC6D8-F90C-221F-D201-40728FDEFC82}"/>
              </a:ext>
            </a:extLst>
          </p:cNvPr>
          <p:cNvSpPr>
            <a:spLocks noGrp="1"/>
          </p:cNvSpPr>
          <p:nvPr>
            <p:ph idx="1"/>
          </p:nvPr>
        </p:nvSpPr>
        <p:spPr>
          <a:xfrm>
            <a:off x="585788" y="2133599"/>
            <a:ext cx="11606212" cy="4538663"/>
          </a:xfrm>
        </p:spPr>
        <p:txBody>
          <a:bodyPr>
            <a:normAutofit/>
          </a:bodyPr>
          <a:lstStyle/>
          <a:p>
            <a:r>
              <a:rPr lang="es-ES" sz="2800" b="1" dirty="0"/>
              <a:t>¿Qué es un Diagrama de Casos de Uso?</a:t>
            </a:r>
          </a:p>
          <a:p>
            <a:r>
              <a:rPr lang="es-ES" sz="2800" dirty="0"/>
              <a:t>Un diagrama de casos de uso es un tipo de diagrama en UML que captura la funcionalidad y los requisitos de un sistema mediante la representación de actores y casos de uso. Los actores son entidades externas que interactúan con el sistema, mientras que los casos de uso representan las funcionalidades que el sistema debe ofrecer.</a:t>
            </a:r>
          </a:p>
          <a:p>
            <a:pPr marL="0" indent="0">
              <a:buNone/>
            </a:pPr>
            <a:endParaRPr lang="es-SV" dirty="0"/>
          </a:p>
        </p:txBody>
      </p:sp>
      <p:pic>
        <p:nvPicPr>
          <p:cNvPr id="5" name="Imagen 4">
            <a:extLst>
              <a:ext uri="{FF2B5EF4-FFF2-40B4-BE49-F238E27FC236}">
                <a16:creationId xmlns:a16="http://schemas.microsoft.com/office/drawing/2014/main" id="{F6D19D2E-1817-AFF7-1812-E5CB3BCA1523}"/>
              </a:ext>
            </a:extLst>
          </p:cNvPr>
          <p:cNvPicPr>
            <a:picLocks noChangeAspect="1"/>
          </p:cNvPicPr>
          <p:nvPr/>
        </p:nvPicPr>
        <p:blipFill>
          <a:blip r:embed="rId2"/>
          <a:stretch>
            <a:fillRect/>
          </a:stretch>
        </p:blipFill>
        <p:spPr>
          <a:xfrm>
            <a:off x="2871787" y="4196722"/>
            <a:ext cx="2905125" cy="1714500"/>
          </a:xfrm>
          <a:prstGeom prst="rect">
            <a:avLst/>
          </a:prstGeom>
        </p:spPr>
      </p:pic>
    </p:spTree>
    <p:extLst>
      <p:ext uri="{BB962C8B-B14F-4D97-AF65-F5344CB8AC3E}">
        <p14:creationId xmlns:p14="http://schemas.microsoft.com/office/powerpoint/2010/main" val="235643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CC5119-1B68-F0CC-6A8B-6C9A1A25981E}"/>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3E245011-3110-A9B7-971C-A8F67C74E685}"/>
              </a:ext>
            </a:extLst>
          </p:cNvPr>
          <p:cNvSpPr>
            <a:spLocks noGrp="1"/>
          </p:cNvSpPr>
          <p:nvPr>
            <p:ph idx="1"/>
          </p:nvPr>
        </p:nvSpPr>
        <p:spPr>
          <a:xfrm>
            <a:off x="2589212" y="2133600"/>
            <a:ext cx="9140826" cy="3777622"/>
          </a:xfrm>
        </p:spPr>
        <p:txBody>
          <a:bodyPr>
            <a:normAutofit fontScale="25000" lnSpcReduction="20000"/>
          </a:bodyPr>
          <a:lstStyle/>
          <a:p>
            <a:r>
              <a:rPr lang="es-ES" sz="7000" b="1" dirty="0"/>
              <a:t>Elementos Clave de un Diagrama de Casos de Uso</a:t>
            </a:r>
          </a:p>
          <a:p>
            <a:pPr marL="0" indent="0">
              <a:buNone/>
            </a:pPr>
            <a:r>
              <a:rPr lang="es-ES" sz="7000" b="1" dirty="0"/>
              <a:t>Actores</a:t>
            </a:r>
            <a:r>
              <a:rPr lang="es-ES" sz="7000" dirty="0"/>
              <a:t>: Son entidades externas (personas, otros sistemas, etc.) que interactúan con el sistema. Se representan gráficamente con una figura de "muñeco de palo" y su nombre debajo. Un actor puede ser un usuario o un sistema que inicia una acción. </a:t>
            </a:r>
          </a:p>
          <a:p>
            <a:pPr marL="0" indent="0">
              <a:buNone/>
            </a:pPr>
            <a:endParaRPr lang="es-ES" sz="7000" u="sng" dirty="0">
              <a:hlinkClick r:id="rId2"/>
            </a:endParaRPr>
          </a:p>
          <a:p>
            <a:pPr marL="0" indent="0">
              <a:buNone/>
            </a:pPr>
            <a:r>
              <a:rPr lang="es-ES" sz="7000" b="1" dirty="0"/>
              <a:t>Casos de Uso</a:t>
            </a:r>
            <a:r>
              <a:rPr lang="es-ES" sz="7000" dirty="0"/>
              <a:t>: Representan funcionalidades específicas del sistema. Se dibujan como elipses con el nombre del caso de uso dentro. Cada caso de uso describe una acción que el sistema puede realizar en respuesta a la interacción de un actor. </a:t>
            </a:r>
          </a:p>
          <a:p>
            <a:pPr marL="0" indent="0">
              <a:buNone/>
            </a:pPr>
            <a:endParaRPr lang="es-ES" sz="7000" u="sng" dirty="0">
              <a:hlinkClick r:id="rId3"/>
            </a:endParaRPr>
          </a:p>
          <a:p>
            <a:pPr marL="0" indent="0">
              <a:buNone/>
            </a:pPr>
            <a:r>
              <a:rPr lang="es-ES" sz="7000" b="1" dirty="0"/>
              <a:t>Relaciones</a:t>
            </a:r>
            <a:r>
              <a:rPr lang="es-ES" sz="7000" dirty="0"/>
              <a:t>: Conectan actores con casos de uso y pueden incluir relaciones como &lt;&gt; (cuando un caso de uso utiliza otro) y &lt;&gt; (cuando un caso de uso puede extender el comportamiento de otro).</a:t>
            </a:r>
          </a:p>
          <a:p>
            <a:endParaRPr lang="es-SV" dirty="0"/>
          </a:p>
        </p:txBody>
      </p:sp>
    </p:spTree>
    <p:extLst>
      <p:ext uri="{BB962C8B-B14F-4D97-AF65-F5344CB8AC3E}">
        <p14:creationId xmlns:p14="http://schemas.microsoft.com/office/powerpoint/2010/main" val="260685138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23010D-3FFF-EA1E-0E3E-9E7255502BE5}"/>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91C75072-D26E-6ABE-C3CA-707C5579DDCE}"/>
              </a:ext>
            </a:extLst>
          </p:cNvPr>
          <p:cNvSpPr>
            <a:spLocks noGrp="1"/>
          </p:cNvSpPr>
          <p:nvPr>
            <p:ph idx="1"/>
          </p:nvPr>
        </p:nvSpPr>
        <p:spPr/>
        <p:txBody>
          <a:bodyPr>
            <a:normAutofit/>
          </a:bodyPr>
          <a:lstStyle/>
          <a:p>
            <a:pPr marL="0" indent="0">
              <a:buNone/>
            </a:pPr>
            <a:r>
              <a:rPr lang="es-ES" b="1" dirty="0"/>
              <a:t>Importancia de los Casos de Uso</a:t>
            </a:r>
          </a:p>
          <a:p>
            <a:pPr marL="0" indent="0">
              <a:buNone/>
            </a:pPr>
            <a:r>
              <a:rPr lang="es-ES" b="1" dirty="0"/>
              <a:t>Identificación de Requisitos</a:t>
            </a:r>
            <a:r>
              <a:rPr lang="es-ES" dirty="0"/>
              <a:t>: Ayudan a identificar y documentar los requisitos funcionales del sistema desde la perspectiva del usuario, lo que es crucial durante la fase de análisis de requisitos. </a:t>
            </a:r>
            <a:endParaRPr lang="es-ES" u="sng" dirty="0">
              <a:hlinkClick r:id="rId2"/>
            </a:endParaRPr>
          </a:p>
          <a:p>
            <a:pPr marL="0" indent="0">
              <a:buNone/>
            </a:pPr>
            <a:r>
              <a:rPr lang="es-ES" b="1" dirty="0"/>
              <a:t>Comunicación</a:t>
            </a:r>
            <a:r>
              <a:rPr lang="es-ES" dirty="0"/>
              <a:t>: Facilitan la comunicación entre desarrolladores y partes interesadas, proporcionando una visión clara de cómo se espera que funcione el sistema. </a:t>
            </a:r>
            <a:endParaRPr lang="es-ES" u="sng" dirty="0"/>
          </a:p>
          <a:p>
            <a:pPr marL="0" indent="0">
              <a:buNone/>
            </a:pPr>
            <a:r>
              <a:rPr lang="es-ES" b="1" dirty="0"/>
              <a:t>Guía para el Desarrollo</a:t>
            </a:r>
            <a:r>
              <a:rPr lang="es-ES" dirty="0"/>
              <a:t>: Sirven como punto de partida para el desarrollo del sistema, ayudando a los equipos a entender las funcionalidades que deben implementarse.</a:t>
            </a:r>
          </a:p>
          <a:p>
            <a:pPr marL="0" indent="0">
              <a:buNone/>
            </a:pPr>
            <a:endParaRPr lang="es-SV" dirty="0"/>
          </a:p>
        </p:txBody>
      </p:sp>
    </p:spTree>
    <p:extLst>
      <p:ext uri="{BB962C8B-B14F-4D97-AF65-F5344CB8AC3E}">
        <p14:creationId xmlns:p14="http://schemas.microsoft.com/office/powerpoint/2010/main" val="27496093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0CC9E-0FEA-72EE-61BE-5A0F38C2932C}"/>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705081CF-4859-10F3-1AFA-1E6367D5B891}"/>
              </a:ext>
            </a:extLst>
          </p:cNvPr>
          <p:cNvSpPr>
            <a:spLocks noGrp="1"/>
          </p:cNvSpPr>
          <p:nvPr>
            <p:ph idx="1"/>
          </p:nvPr>
        </p:nvSpPr>
        <p:spPr/>
        <p:txBody>
          <a:bodyPr>
            <a:normAutofit/>
          </a:bodyPr>
          <a:lstStyle/>
          <a:p>
            <a:pPr marL="0" indent="0">
              <a:buNone/>
            </a:pPr>
            <a:r>
              <a:rPr lang="es-ES" b="1" dirty="0"/>
              <a:t>Cómo Dibujar un Diagrama de Casos de Uso</a:t>
            </a:r>
          </a:p>
          <a:p>
            <a:pPr marL="0" indent="0">
              <a:buNone/>
            </a:pPr>
            <a:r>
              <a:rPr lang="es-ES" b="1" dirty="0"/>
              <a:t>Identificar Funcionalidades</a:t>
            </a:r>
            <a:r>
              <a:rPr lang="es-ES" dirty="0"/>
              <a:t>: Analiza el sistema para identificar todas las funcionalidades que debe ofrecer.</a:t>
            </a:r>
          </a:p>
          <a:p>
            <a:pPr marL="0" indent="0">
              <a:buNone/>
            </a:pPr>
            <a:r>
              <a:rPr lang="es-ES" b="1" dirty="0"/>
              <a:t>Listar Actores</a:t>
            </a:r>
            <a:r>
              <a:rPr lang="es-ES" dirty="0"/>
              <a:t>: Enumera los actores que interactuarán con el sistema.</a:t>
            </a:r>
          </a:p>
          <a:p>
            <a:pPr marL="0" indent="0">
              <a:buNone/>
            </a:pPr>
            <a:r>
              <a:rPr lang="es-ES" b="1" dirty="0"/>
              <a:t>Definir Relaciones</a:t>
            </a:r>
            <a:r>
              <a:rPr lang="es-ES" dirty="0"/>
              <a:t>: Establece cómo interactúan los actores con los casos de uso y entre sí.</a:t>
            </a:r>
          </a:p>
          <a:p>
            <a:pPr marL="0" indent="0">
              <a:buNone/>
            </a:pPr>
            <a:r>
              <a:rPr lang="es-ES" b="1" dirty="0"/>
              <a:t>Utilizar Herramientas</a:t>
            </a:r>
            <a:r>
              <a:rPr lang="es-ES" dirty="0"/>
              <a:t>: Puedes usar herramientas como </a:t>
            </a:r>
            <a:r>
              <a:rPr lang="es-ES" dirty="0" err="1"/>
              <a:t>Lucidchart</a:t>
            </a:r>
            <a:r>
              <a:rPr lang="es-ES" dirty="0"/>
              <a:t>, Visual </a:t>
            </a:r>
            <a:r>
              <a:rPr lang="es-ES" dirty="0" err="1"/>
              <a:t>Paradigm</a:t>
            </a:r>
            <a:r>
              <a:rPr lang="es-ES" dirty="0"/>
              <a:t> o Draw.io para crear diagramas de manera eficiente. </a:t>
            </a:r>
          </a:p>
          <a:p>
            <a:pPr marL="0" indent="0">
              <a:buNone/>
            </a:pPr>
            <a:r>
              <a:rPr lang="es-ES" dirty="0"/>
              <a:t>Los diagramas de casos de uso son una herramienta esencial en el modelado de sistemas, proporcionando una representación clara y concisa de las interacciones entre los usuarios y el sistema.</a:t>
            </a:r>
          </a:p>
          <a:p>
            <a:endParaRPr lang="es-SV" dirty="0"/>
          </a:p>
        </p:txBody>
      </p:sp>
    </p:spTree>
    <p:extLst>
      <p:ext uri="{BB962C8B-B14F-4D97-AF65-F5344CB8AC3E}">
        <p14:creationId xmlns:p14="http://schemas.microsoft.com/office/powerpoint/2010/main" val="287468579"/>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B9B05-B825-6D2E-82EC-C08F7CA9F0DA}"/>
              </a:ext>
            </a:extLst>
          </p:cNvPr>
          <p:cNvSpPr>
            <a:spLocks noGrp="1"/>
          </p:cNvSpPr>
          <p:nvPr>
            <p:ph type="title"/>
          </p:nvPr>
        </p:nvSpPr>
        <p:spPr/>
        <p:txBody>
          <a:bodyPr/>
          <a:lstStyle/>
          <a:p>
            <a:r>
              <a:rPr lang="es-SV" dirty="0"/>
              <a:t>Factores y sistemas de software por separado</a:t>
            </a:r>
          </a:p>
        </p:txBody>
      </p:sp>
      <p:sp>
        <p:nvSpPr>
          <p:cNvPr id="3" name="Marcador de contenido 2">
            <a:extLst>
              <a:ext uri="{FF2B5EF4-FFF2-40B4-BE49-F238E27FC236}">
                <a16:creationId xmlns:a16="http://schemas.microsoft.com/office/drawing/2014/main" id="{471CA584-B013-AA64-01DD-801F8BAD8555}"/>
              </a:ext>
            </a:extLst>
          </p:cNvPr>
          <p:cNvSpPr>
            <a:spLocks noGrp="1"/>
          </p:cNvSpPr>
          <p:nvPr>
            <p:ph idx="1"/>
          </p:nvPr>
        </p:nvSpPr>
        <p:spPr/>
        <p:txBody>
          <a:bodyPr/>
          <a:lstStyle/>
          <a:p>
            <a:r>
              <a:rPr lang="es-SV" dirty="0"/>
              <a:t>Sistemas</a:t>
            </a:r>
          </a:p>
          <a:p>
            <a:r>
              <a:rPr lang="es-ES" b="1" dirty="0"/>
              <a:t>Definición y Función</a:t>
            </a:r>
          </a:p>
          <a:p>
            <a:r>
              <a:rPr lang="es-ES" dirty="0"/>
              <a:t>El </a:t>
            </a:r>
            <a:r>
              <a:rPr lang="es-ES" b="1" dirty="0"/>
              <a:t>software de sistema</a:t>
            </a:r>
            <a:r>
              <a:rPr lang="es-ES" dirty="0"/>
              <a:t>, también llamado software de base, es esencial para el funcionamiento de cualquier dispositivo digital. Su principal función es </a:t>
            </a:r>
            <a:r>
              <a:rPr lang="es-ES" b="1" dirty="0"/>
              <a:t>administrar los recursos del hardware</a:t>
            </a:r>
            <a:r>
              <a:rPr lang="es-ES" dirty="0"/>
              <a:t>, controlar dispositivos, ejecutar instrucciones y servir como base para que otros programas, como las aplicaciones, puedan operar. Actúa como un </a:t>
            </a:r>
            <a:r>
              <a:rPr lang="es-ES" b="1" dirty="0"/>
              <a:t>puente entre el usuario, el hardware y las aplicaciones</a:t>
            </a:r>
            <a:r>
              <a:rPr lang="es-ES" dirty="0"/>
              <a:t>, garantizando que el sistema sea funcional y estable. </a:t>
            </a:r>
          </a:p>
          <a:p>
            <a:endParaRPr lang="es-SV" dirty="0"/>
          </a:p>
        </p:txBody>
      </p:sp>
    </p:spTree>
    <p:extLst>
      <p:ext uri="{BB962C8B-B14F-4D97-AF65-F5344CB8AC3E}">
        <p14:creationId xmlns:p14="http://schemas.microsoft.com/office/powerpoint/2010/main" val="1750330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80635-3248-EC6F-6DC6-8E4C07067948}"/>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2C2D63EC-9EFB-FCAE-2368-827EB2689436}"/>
              </a:ext>
            </a:extLst>
          </p:cNvPr>
          <p:cNvSpPr>
            <a:spLocks noGrp="1"/>
          </p:cNvSpPr>
          <p:nvPr>
            <p:ph idx="1"/>
          </p:nvPr>
        </p:nvSpPr>
        <p:spPr/>
        <p:txBody>
          <a:bodyPr>
            <a:normAutofit/>
          </a:bodyPr>
          <a:lstStyle/>
          <a:p>
            <a:r>
              <a:rPr lang="es-ES" b="1" dirty="0"/>
              <a:t>Tipos de Software de Sistema</a:t>
            </a:r>
          </a:p>
          <a:p>
            <a:r>
              <a:rPr lang="es-ES" b="1" dirty="0"/>
              <a:t>Sistemas operativos</a:t>
            </a:r>
            <a:r>
              <a:rPr lang="es-ES" dirty="0"/>
              <a:t>: Son el núcleo del software de sistema y coordinan todos los recursos del hardware, proporcionando una interfaz para que el usuario interactúe con el equipo. Ejemplos incluyen </a:t>
            </a:r>
            <a:r>
              <a:rPr lang="es-ES" b="1" dirty="0"/>
              <a:t>Windows, macOS, Linux y Android</a:t>
            </a:r>
            <a:r>
              <a:rPr lang="es-ES" dirty="0"/>
              <a:t>. </a:t>
            </a:r>
          </a:p>
          <a:p>
            <a:r>
              <a:rPr lang="es-ES" b="1" dirty="0"/>
              <a:t>Controladores de dispositivos (drivers)</a:t>
            </a:r>
            <a:r>
              <a:rPr lang="es-ES" dirty="0"/>
              <a:t>: Permiten que el sistema operativo se comunique con periféricos y componentes de hardware, como impresoras, tarjetas gráficas o cámaras. </a:t>
            </a:r>
          </a:p>
          <a:p>
            <a:pPr marL="0" indent="0">
              <a:buNone/>
            </a:pPr>
            <a:r>
              <a:rPr lang="es-ES" b="1" dirty="0" err="1"/>
              <a:t>Bootloaders</a:t>
            </a:r>
            <a:r>
              <a:rPr lang="es-ES" b="1" dirty="0"/>
              <a:t> o cargadores de programa</a:t>
            </a:r>
            <a:r>
              <a:rPr lang="es-ES" dirty="0"/>
              <a:t>: Programas que se ejecutan al encender un dispositivo y cargan el sistema operativo en la memoria, preparando el hardware para su uso. </a:t>
            </a:r>
          </a:p>
          <a:p>
            <a:endParaRPr lang="es-SV" dirty="0"/>
          </a:p>
        </p:txBody>
      </p:sp>
    </p:spTree>
    <p:extLst>
      <p:ext uri="{BB962C8B-B14F-4D97-AF65-F5344CB8AC3E}">
        <p14:creationId xmlns:p14="http://schemas.microsoft.com/office/powerpoint/2010/main" val="2979951538"/>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2BDCD-82A6-5A5A-1C3C-89208E8D87AB}"/>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366FF927-F4DF-CC38-B15E-32F423D6A832}"/>
              </a:ext>
            </a:extLst>
          </p:cNvPr>
          <p:cNvSpPr>
            <a:spLocks noGrp="1"/>
          </p:cNvSpPr>
          <p:nvPr>
            <p:ph idx="1"/>
          </p:nvPr>
        </p:nvSpPr>
        <p:spPr/>
        <p:txBody>
          <a:bodyPr/>
          <a:lstStyle/>
          <a:p>
            <a:r>
              <a:rPr lang="es-ES" b="1" dirty="0"/>
              <a:t>Herramientas de diagnóstico y utilidades del sistema</a:t>
            </a:r>
            <a:r>
              <a:rPr lang="es-ES" dirty="0"/>
              <a:t>: Programas que monitorean, optimizan y protegen el sistema operativo y el hardware, ayudando a detectar fallos y mejorar la estabilidad. </a:t>
            </a:r>
            <a:endParaRPr lang="es-ES" u="sng" dirty="0"/>
          </a:p>
          <a:p>
            <a:r>
              <a:rPr lang="es-ES" b="1" dirty="0"/>
              <a:t>BIOS y UEFI</a:t>
            </a:r>
            <a:r>
              <a:rPr lang="es-ES" dirty="0"/>
              <a:t>: Software que reside en la placa base y arranca el hardware al encender la computadora, entregando el control al sistema operativo.</a:t>
            </a:r>
          </a:p>
          <a:p>
            <a:r>
              <a:rPr lang="es-ES" b="1" dirty="0"/>
              <a:t>Servidores y software de red</a:t>
            </a:r>
            <a:r>
              <a:rPr lang="es-ES" dirty="0"/>
              <a:t>: Gestionan la comunicación y los servicios dentro de redes locales o en la nube, asegurando conectividad y eficiencia.</a:t>
            </a:r>
          </a:p>
          <a:p>
            <a:endParaRPr lang="es-SV" dirty="0"/>
          </a:p>
        </p:txBody>
      </p:sp>
    </p:spTree>
    <p:extLst>
      <p:ext uri="{BB962C8B-B14F-4D97-AF65-F5344CB8AC3E}">
        <p14:creationId xmlns:p14="http://schemas.microsoft.com/office/powerpoint/2010/main" val="264823386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B39F66-8600-EC14-A4ED-9C8FBE4B871B}"/>
              </a:ext>
            </a:extLst>
          </p:cNvPr>
          <p:cNvSpPr>
            <a:spLocks noGrp="1"/>
          </p:cNvSpPr>
          <p:nvPr>
            <p:ph type="title"/>
          </p:nvPr>
        </p:nvSpPr>
        <p:spPr/>
        <p:txBody>
          <a:bodyPr/>
          <a:lstStyle/>
          <a:p>
            <a:r>
              <a:rPr lang="es-SV" dirty="0" err="1"/>
              <a:t>caracteristicas</a:t>
            </a:r>
            <a:endParaRPr lang="es-SV" dirty="0"/>
          </a:p>
        </p:txBody>
      </p:sp>
      <p:sp>
        <p:nvSpPr>
          <p:cNvPr id="3" name="Marcador de contenido 2">
            <a:extLst>
              <a:ext uri="{FF2B5EF4-FFF2-40B4-BE49-F238E27FC236}">
                <a16:creationId xmlns:a16="http://schemas.microsoft.com/office/drawing/2014/main" id="{1B065415-370A-1A14-EF39-44B74335A1E9}"/>
              </a:ext>
            </a:extLst>
          </p:cNvPr>
          <p:cNvSpPr>
            <a:spLocks noGrp="1"/>
          </p:cNvSpPr>
          <p:nvPr>
            <p:ph idx="1"/>
          </p:nvPr>
        </p:nvSpPr>
        <p:spPr/>
        <p:txBody>
          <a:bodyPr>
            <a:normAutofit/>
          </a:bodyPr>
          <a:lstStyle/>
          <a:p>
            <a:r>
              <a:rPr lang="es-ES" b="1" dirty="0"/>
              <a:t>Características Clave</a:t>
            </a:r>
          </a:p>
          <a:p>
            <a:r>
              <a:rPr lang="es-ES" b="1" dirty="0"/>
              <a:t>Fundamental para el sistema</a:t>
            </a:r>
            <a:r>
              <a:rPr lang="es-ES" dirty="0"/>
              <a:t>: Sin software de sistema, un computador o dispositivo sería inutilizable. </a:t>
            </a:r>
            <a:endParaRPr lang="es-ES" u="sng" dirty="0"/>
          </a:p>
          <a:p>
            <a:r>
              <a:rPr lang="es-ES" b="1" dirty="0"/>
              <a:t>Interfaz de usuario</a:t>
            </a:r>
            <a:r>
              <a:rPr lang="es-ES" dirty="0"/>
              <a:t>: Aunque muchas funciones operan automáticamente, el software de sistema ofrece entornos de interacción, como escritorios o consolas de comandos. </a:t>
            </a:r>
            <a:endParaRPr lang="es-ES" u="sng" dirty="0">
              <a:hlinkClick r:id="rId2"/>
            </a:endParaRPr>
          </a:p>
          <a:p>
            <a:r>
              <a:rPr lang="es-ES" b="1" dirty="0"/>
              <a:t>Gestión de recursos</a:t>
            </a:r>
            <a:r>
              <a:rPr lang="es-ES" dirty="0"/>
              <a:t>: Administra CPU, memoria, almacenamiento y periféricos, optimizando el rendimiento y la estabilidad del sistema.</a:t>
            </a:r>
          </a:p>
          <a:p>
            <a:endParaRPr lang="es-SV" dirty="0"/>
          </a:p>
        </p:txBody>
      </p:sp>
    </p:spTree>
    <p:extLst>
      <p:ext uri="{BB962C8B-B14F-4D97-AF65-F5344CB8AC3E}">
        <p14:creationId xmlns:p14="http://schemas.microsoft.com/office/powerpoint/2010/main" val="20993939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F3187E-D426-0809-7921-23B472B8DEF4}"/>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7020882F-F8D1-04BD-0D57-5D0260AA2E0E}"/>
              </a:ext>
            </a:extLst>
          </p:cNvPr>
          <p:cNvSpPr>
            <a:spLocks noGrp="1"/>
          </p:cNvSpPr>
          <p:nvPr>
            <p:ph idx="1"/>
          </p:nvPr>
        </p:nvSpPr>
        <p:spPr/>
        <p:txBody>
          <a:bodyPr/>
          <a:lstStyle/>
          <a:p>
            <a:r>
              <a:rPr lang="es-ES" b="1" dirty="0"/>
              <a:t>Seguridad y mantenimiento</a:t>
            </a:r>
            <a:r>
              <a:rPr lang="es-ES" dirty="0"/>
              <a:t>: Los sistemas modernos integran herramientas de seguridad y optimización, algunas con inteligencia artificial, para prevenir fallos y amenazas en tiempo real.</a:t>
            </a:r>
          </a:p>
          <a:p>
            <a:r>
              <a:rPr lang="es-ES" b="1" dirty="0"/>
              <a:t>Importancia Actual</a:t>
            </a:r>
          </a:p>
          <a:p>
            <a:r>
              <a:rPr lang="es-ES" dirty="0"/>
              <a:t>En 2025 y 2026, el software de sistema no solo mantiene la funcionalidad básica de los dispositivos, sino que también </a:t>
            </a:r>
            <a:r>
              <a:rPr lang="es-ES" b="1" dirty="0"/>
              <a:t>optimiza recursos, integra IA, refuerza la seguridad y permite escalabilidad para empresas y startups</a:t>
            </a:r>
            <a:r>
              <a:rPr lang="es-ES" dirty="0"/>
              <a:t>, reduciendo costos operativos y mejorando la eficiencia. Su dominio es clave para maximizar rendimiento y estabilidad en entornos digitales modernos.</a:t>
            </a:r>
          </a:p>
          <a:p>
            <a:endParaRPr lang="es-SV" dirty="0"/>
          </a:p>
        </p:txBody>
      </p:sp>
    </p:spTree>
    <p:extLst>
      <p:ext uri="{BB962C8B-B14F-4D97-AF65-F5344CB8AC3E}">
        <p14:creationId xmlns:p14="http://schemas.microsoft.com/office/powerpoint/2010/main" val="16474406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076726-6448-941C-6179-30E679483739}"/>
              </a:ext>
            </a:extLst>
          </p:cNvPr>
          <p:cNvSpPr>
            <a:spLocks noGrp="1"/>
          </p:cNvSpPr>
          <p:nvPr>
            <p:ph type="title"/>
          </p:nvPr>
        </p:nvSpPr>
        <p:spPr/>
        <p:txBody>
          <a:bodyPr/>
          <a:lstStyle/>
          <a:p>
            <a:r>
              <a:rPr lang="es-SV" dirty="0" err="1"/>
              <a:t>conclusion</a:t>
            </a:r>
            <a:endParaRPr lang="es-SV" dirty="0"/>
          </a:p>
        </p:txBody>
      </p:sp>
      <p:sp>
        <p:nvSpPr>
          <p:cNvPr id="3" name="Marcador de contenido 2">
            <a:extLst>
              <a:ext uri="{FF2B5EF4-FFF2-40B4-BE49-F238E27FC236}">
                <a16:creationId xmlns:a16="http://schemas.microsoft.com/office/drawing/2014/main" id="{4F191919-F49E-3FE3-FAB5-20CAAAED8360}"/>
              </a:ext>
            </a:extLst>
          </p:cNvPr>
          <p:cNvSpPr>
            <a:spLocks noGrp="1"/>
          </p:cNvSpPr>
          <p:nvPr>
            <p:ph idx="1"/>
          </p:nvPr>
        </p:nvSpPr>
        <p:spPr/>
        <p:txBody>
          <a:bodyPr/>
          <a:lstStyle/>
          <a:p>
            <a:r>
              <a:rPr lang="es-ES" dirty="0"/>
              <a:t>En resumen, el </a:t>
            </a:r>
            <a:r>
              <a:rPr lang="es-ES" b="1" dirty="0"/>
              <a:t>software de sistema es la base invisible que conecta hardware y aplicaciones</a:t>
            </a:r>
            <a:r>
              <a:rPr lang="es-ES" dirty="0"/>
              <a:t>, asegurando que los dispositivos funcionen de manera eficiente, segura y adaptable a las necesidades del usuario y de las empresas.</a:t>
            </a:r>
          </a:p>
          <a:p>
            <a:endParaRPr lang="es-SV" dirty="0"/>
          </a:p>
        </p:txBody>
      </p:sp>
      <p:pic>
        <p:nvPicPr>
          <p:cNvPr id="5" name="Imagen 4">
            <a:extLst>
              <a:ext uri="{FF2B5EF4-FFF2-40B4-BE49-F238E27FC236}">
                <a16:creationId xmlns:a16="http://schemas.microsoft.com/office/drawing/2014/main" id="{0742C699-82F9-19E0-D9A1-F66DEEFDA1AC}"/>
              </a:ext>
            </a:extLst>
          </p:cNvPr>
          <p:cNvPicPr>
            <a:picLocks noChangeAspect="1"/>
          </p:cNvPicPr>
          <p:nvPr/>
        </p:nvPicPr>
        <p:blipFill>
          <a:blip r:embed="rId2"/>
          <a:stretch>
            <a:fillRect/>
          </a:stretch>
        </p:blipFill>
        <p:spPr>
          <a:xfrm>
            <a:off x="2589212" y="3428999"/>
            <a:ext cx="5311776" cy="3208455"/>
          </a:xfrm>
          <a:prstGeom prst="rect">
            <a:avLst/>
          </a:prstGeom>
        </p:spPr>
      </p:pic>
    </p:spTree>
    <p:extLst>
      <p:ext uri="{BB962C8B-B14F-4D97-AF65-F5344CB8AC3E}">
        <p14:creationId xmlns:p14="http://schemas.microsoft.com/office/powerpoint/2010/main" val="1606918394"/>
      </p:ext>
    </p:extLst>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27822-1DDD-2F11-8C16-82B21A4E485C}"/>
              </a:ext>
            </a:extLst>
          </p:cNvPr>
          <p:cNvSpPr>
            <a:spLocks noGrp="1"/>
          </p:cNvSpPr>
          <p:nvPr>
            <p:ph type="title"/>
          </p:nvPr>
        </p:nvSpPr>
        <p:spPr/>
        <p:txBody>
          <a:bodyPr/>
          <a:lstStyle/>
          <a:p>
            <a:r>
              <a:rPr lang="es-SV" dirty="0"/>
              <a:t>Factores de software</a:t>
            </a:r>
          </a:p>
        </p:txBody>
      </p:sp>
      <p:pic>
        <p:nvPicPr>
          <p:cNvPr id="7" name="Marcador de contenido 6">
            <a:extLst>
              <a:ext uri="{FF2B5EF4-FFF2-40B4-BE49-F238E27FC236}">
                <a16:creationId xmlns:a16="http://schemas.microsoft.com/office/drawing/2014/main" id="{1058064A-BC04-47AE-593A-949878D404D3}"/>
              </a:ext>
            </a:extLst>
          </p:cNvPr>
          <p:cNvPicPr>
            <a:picLocks noGrp="1" noChangeAspect="1"/>
          </p:cNvPicPr>
          <p:nvPr>
            <p:ph idx="1"/>
          </p:nvPr>
        </p:nvPicPr>
        <p:blipFill>
          <a:blip r:embed="rId2"/>
          <a:stretch>
            <a:fillRect/>
          </a:stretch>
        </p:blipFill>
        <p:spPr>
          <a:xfrm>
            <a:off x="2241550" y="1714499"/>
            <a:ext cx="6630988" cy="4717699"/>
          </a:xfrm>
          <a:prstGeom prst="rect">
            <a:avLst/>
          </a:prstGeom>
        </p:spPr>
      </p:pic>
    </p:spTree>
    <p:extLst>
      <p:ext uri="{BB962C8B-B14F-4D97-AF65-F5344CB8AC3E}">
        <p14:creationId xmlns:p14="http://schemas.microsoft.com/office/powerpoint/2010/main" val="5723435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0DD28-74EB-5BB2-1A53-3DF77EAB90B1}"/>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23C6A4B9-5A66-0956-BAF1-70EAB7E91AFC}"/>
              </a:ext>
            </a:extLst>
          </p:cNvPr>
          <p:cNvSpPr>
            <a:spLocks noGrp="1"/>
          </p:cNvSpPr>
          <p:nvPr>
            <p:ph idx="1"/>
          </p:nvPr>
        </p:nvSpPr>
        <p:spPr/>
        <p:txBody>
          <a:bodyPr/>
          <a:lstStyle/>
          <a:p>
            <a:r>
              <a:rPr lang="es-ES" dirty="0"/>
              <a:t>Los factores de software son requisitos y atributos de calidad que condicionan el diseño de la arquitectura. Se dividen en </a:t>
            </a:r>
            <a:r>
              <a:rPr lang="es-ES" b="1" dirty="0"/>
              <a:t>funcionales</a:t>
            </a:r>
            <a:r>
              <a:rPr lang="es-ES" dirty="0"/>
              <a:t> (lo que el sistema hace) y </a:t>
            </a:r>
            <a:r>
              <a:rPr lang="es-ES" b="1" dirty="0"/>
              <a:t>no funcionales</a:t>
            </a:r>
            <a:r>
              <a:rPr lang="es-ES" dirty="0"/>
              <a:t> (cómo lo hace, bajo qué estándares de calidad).</a:t>
            </a:r>
          </a:p>
          <a:p>
            <a:r>
              <a:rPr lang="es-ES" dirty="0"/>
              <a:t>En el </a:t>
            </a:r>
            <a:r>
              <a:rPr lang="es-ES" b="1" dirty="0"/>
              <a:t>Sistema de Pedidos de Restaurante</a:t>
            </a:r>
            <a:r>
              <a:rPr lang="es-ES" dirty="0"/>
              <a:t>, el problema principal es gestionar de forma eficiente y sin errores la comunicación entre el comedor (meseros), la cocina y la caja, asegurando que la información no se pierda y que el sistema sea fácil de usar en momentos de alta afluencia de clientes.</a:t>
            </a:r>
            <a:endParaRPr lang="es-SV" dirty="0"/>
          </a:p>
        </p:txBody>
      </p:sp>
    </p:spTree>
    <p:extLst>
      <p:ext uri="{BB962C8B-B14F-4D97-AF65-F5344CB8AC3E}">
        <p14:creationId xmlns:p14="http://schemas.microsoft.com/office/powerpoint/2010/main" val="313756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86E1CB-612A-9194-C8BF-28C77B9A6C54}"/>
              </a:ext>
            </a:extLst>
          </p:cNvPr>
          <p:cNvSpPr>
            <a:spLocks noGrp="1"/>
          </p:cNvSpPr>
          <p:nvPr>
            <p:ph type="title"/>
          </p:nvPr>
        </p:nvSpPr>
        <p:spPr/>
        <p:txBody>
          <a:bodyPr/>
          <a:lstStyle/>
          <a:p>
            <a:endParaRPr lang="es-SV"/>
          </a:p>
        </p:txBody>
      </p:sp>
      <p:sp>
        <p:nvSpPr>
          <p:cNvPr id="4" name="Rectangle 1">
            <a:extLst>
              <a:ext uri="{FF2B5EF4-FFF2-40B4-BE49-F238E27FC236}">
                <a16:creationId xmlns:a16="http://schemas.microsoft.com/office/drawing/2014/main" id="{9764BB1A-6D22-93A5-BCAF-7501626694A1}"/>
              </a:ext>
            </a:extLst>
          </p:cNvPr>
          <p:cNvSpPr>
            <a:spLocks noGrp="1" noChangeArrowheads="1"/>
          </p:cNvSpPr>
          <p:nvPr>
            <p:ph idx="1"/>
          </p:nvPr>
        </p:nvSpPr>
        <p:spPr bwMode="auto">
          <a:xfrm>
            <a:off x="2589212" y="3422246"/>
            <a:ext cx="71215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SV" altLang="es-SV" sz="1800" b="1" i="0" u="none" strike="noStrike" cap="none" normalizeH="0" baseline="0" dirty="0">
                <a:ln>
                  <a:noFill/>
                </a:ln>
                <a:solidFill>
                  <a:schemeClr val="tx1"/>
                </a:solidFill>
                <a:effectLst/>
                <a:latin typeface="Arial" panose="020B0604020202020204" pitchFamily="34" charset="0"/>
              </a:rPr>
              <a:t>Mesero:</a:t>
            </a:r>
            <a:r>
              <a:rPr kumimoji="0" lang="es-SV" altLang="es-SV" sz="1800" b="0" i="0" u="none" strike="noStrike" cap="none" normalizeH="0" baseline="0" dirty="0">
                <a:ln>
                  <a:noFill/>
                </a:ln>
                <a:solidFill>
                  <a:schemeClr val="tx1"/>
                </a:solidFill>
                <a:effectLst/>
                <a:latin typeface="Arial" panose="020B0604020202020204" pitchFamily="34" charset="0"/>
              </a:rPr>
              <a:t> Registra pedidos y consulta estados.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Cocinero:</a:t>
            </a:r>
            <a:r>
              <a:rPr kumimoji="0" lang="es-SV" altLang="es-SV" sz="1800" b="0" i="0" u="none" strike="noStrike" cap="none" normalizeH="0" baseline="0" dirty="0">
                <a:ln>
                  <a:noFill/>
                </a:ln>
                <a:solidFill>
                  <a:schemeClr val="tx1"/>
                </a:solidFill>
                <a:effectLst/>
                <a:latin typeface="Arial" panose="020B0604020202020204" pitchFamily="34" charset="0"/>
              </a:rPr>
              <a:t> Visualiza pedidos pendientes y marca como finalizados.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Cajero:</a:t>
            </a:r>
            <a:r>
              <a:rPr kumimoji="0" lang="es-SV" altLang="es-SV" sz="1800" b="0" i="0" u="none" strike="noStrike" cap="none" normalizeH="0" baseline="0" dirty="0">
                <a:ln>
                  <a:noFill/>
                </a:ln>
                <a:solidFill>
                  <a:schemeClr val="tx1"/>
                </a:solidFill>
                <a:effectLst/>
                <a:latin typeface="Arial" panose="020B0604020202020204" pitchFamily="34" charset="0"/>
              </a:rPr>
              <a:t> Procesa los pagos y cierra las órdenes.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Administrador:</a:t>
            </a:r>
            <a:r>
              <a:rPr kumimoji="0" lang="es-SV" altLang="es-SV" sz="1800" b="0" i="0" u="none" strike="noStrike" cap="none" normalizeH="0" baseline="0" dirty="0">
                <a:ln>
                  <a:noFill/>
                </a:ln>
                <a:solidFill>
                  <a:schemeClr val="tx1"/>
                </a:solidFill>
                <a:effectLst/>
                <a:latin typeface="Arial" panose="020B0604020202020204" pitchFamily="34" charset="0"/>
              </a:rPr>
              <a:t> Gestiona el menú y genera reportes.</a:t>
            </a:r>
          </a:p>
        </p:txBody>
      </p:sp>
    </p:spTree>
    <p:extLst>
      <p:ext uri="{BB962C8B-B14F-4D97-AF65-F5344CB8AC3E}">
        <p14:creationId xmlns:p14="http://schemas.microsoft.com/office/powerpoint/2010/main" val="14756888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A154C1-9777-C1BA-C212-54E701566011}"/>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A52B6916-DE15-15D3-411A-DF6D75BA9528}"/>
              </a:ext>
            </a:extLst>
          </p:cNvPr>
          <p:cNvSpPr>
            <a:spLocks noGrp="1"/>
          </p:cNvSpPr>
          <p:nvPr>
            <p:ph idx="1"/>
          </p:nvPr>
        </p:nvSpPr>
        <p:spPr/>
        <p:txBody>
          <a:bodyPr>
            <a:normAutofit fontScale="85000" lnSpcReduction="10000"/>
          </a:bodyPr>
          <a:lstStyle/>
          <a:p>
            <a:r>
              <a:rPr lang="es-ES" b="1" dirty="0"/>
              <a:t>RF1:</a:t>
            </a:r>
            <a:r>
              <a:rPr lang="es-ES" dirty="0"/>
              <a:t> El sistema debe permitir al mesero crear una nueva orden asignada a una mesa.</a:t>
            </a:r>
          </a:p>
          <a:p>
            <a:r>
              <a:rPr lang="es-ES" b="1" dirty="0"/>
              <a:t>RF2:</a:t>
            </a:r>
            <a:r>
              <a:rPr lang="es-ES" dirty="0"/>
              <a:t> El sistema debe enviar automáticamente el pedido a la pantalla de cocina.</a:t>
            </a:r>
          </a:p>
          <a:p>
            <a:r>
              <a:rPr lang="es-ES" b="1" dirty="0"/>
              <a:t>RF3:</a:t>
            </a:r>
            <a:r>
              <a:rPr lang="es-ES" dirty="0"/>
              <a:t> El sistema debe permitir el registro de diferentes métodos de pago (efectivo, tarjeta).</a:t>
            </a:r>
          </a:p>
          <a:p>
            <a:r>
              <a:rPr lang="es-ES" b="1" dirty="0"/>
              <a:t>Requisitos No Funcionales (RNF) alineados a ISO/IEC 25010</a:t>
            </a:r>
          </a:p>
          <a:p>
            <a:r>
              <a:rPr lang="es-ES" b="1" dirty="0"/>
              <a:t>Usabilidad:</a:t>
            </a:r>
            <a:r>
              <a:rPr lang="es-ES" dirty="0"/>
              <a:t> La interfaz debe ser intuitiva para que un mesero aprenda a usarla en menos de 20 minutos.</a:t>
            </a:r>
          </a:p>
          <a:p>
            <a:r>
              <a:rPr lang="es-ES" b="1" dirty="0"/>
              <a:t>Rendimiento:</a:t>
            </a:r>
            <a:r>
              <a:rPr lang="es-ES" dirty="0"/>
              <a:t> El tiempo de respuesta al guardar un pedido no debe superar los 2 segundos.</a:t>
            </a:r>
          </a:p>
          <a:p>
            <a:r>
              <a:rPr lang="es-ES" b="1" dirty="0"/>
              <a:t>Seguridad:</a:t>
            </a:r>
            <a:r>
              <a:rPr lang="es-ES" dirty="0"/>
              <a:t> Solo los usuarios autorizados (</a:t>
            </a:r>
            <a:r>
              <a:rPr lang="es-ES" dirty="0" err="1"/>
              <a:t>login</a:t>
            </a:r>
            <a:r>
              <a:rPr lang="es-ES" dirty="0"/>
              <a:t>) pueden modificar estados de pedidos o precios.</a:t>
            </a:r>
          </a:p>
          <a:p>
            <a:r>
              <a:rPr lang="es-ES" b="1" dirty="0"/>
              <a:t>Mantenibilidad:</a:t>
            </a:r>
            <a:r>
              <a:rPr lang="es-ES" dirty="0"/>
              <a:t> El código debe estar organizado de forma que añadir un nuevo tipo de platillo sea sencillo.</a:t>
            </a:r>
          </a:p>
          <a:p>
            <a:endParaRPr lang="es-SV" dirty="0"/>
          </a:p>
        </p:txBody>
      </p:sp>
    </p:spTree>
    <p:extLst>
      <p:ext uri="{BB962C8B-B14F-4D97-AF65-F5344CB8AC3E}">
        <p14:creationId xmlns:p14="http://schemas.microsoft.com/office/powerpoint/2010/main" val="332252444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A29D71-2CBB-1C13-E9ED-B3C786F0FF79}"/>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8E3DDE47-91B3-29AC-EDC8-B8F175D3E8DF}"/>
              </a:ext>
            </a:extLst>
          </p:cNvPr>
          <p:cNvSpPr>
            <a:spLocks noGrp="1"/>
          </p:cNvSpPr>
          <p:nvPr>
            <p:ph idx="1"/>
          </p:nvPr>
        </p:nvSpPr>
        <p:spPr/>
        <p:txBody>
          <a:bodyPr/>
          <a:lstStyle/>
          <a:p>
            <a:r>
              <a:rPr lang="es-ES" dirty="0"/>
              <a:t>Se selecciona el patrón </a:t>
            </a:r>
            <a:r>
              <a:rPr lang="es-ES" b="1" dirty="0"/>
              <a:t>MVC (Modelo-Vista-Controlador)</a:t>
            </a:r>
            <a:r>
              <a:rPr lang="es-ES" dirty="0"/>
              <a:t>. </a:t>
            </a:r>
            <a:r>
              <a:rPr lang="es-ES" b="1" dirty="0"/>
              <a:t>Justificación:</a:t>
            </a:r>
            <a:r>
              <a:rPr lang="es-ES" dirty="0"/>
              <a:t> Permite separar la interfaz de usuario (Vista) de las reglas del negocio (Modelo) y de la gestión de datos (Controlador). Esto facilita que, si en el futuro el restaurante quiere cambiar sus </a:t>
            </a:r>
            <a:r>
              <a:rPr lang="es-ES" dirty="0" err="1"/>
              <a:t>tablets</a:t>
            </a:r>
            <a:r>
              <a:rPr lang="es-ES" dirty="0"/>
              <a:t> por una página web, solo se deba modificar la "Vista" sin tocar la lógica interna.</a:t>
            </a:r>
          </a:p>
          <a:p>
            <a:endParaRPr lang="es-SV" dirty="0"/>
          </a:p>
        </p:txBody>
      </p:sp>
    </p:spTree>
    <p:extLst>
      <p:ext uri="{BB962C8B-B14F-4D97-AF65-F5344CB8AC3E}">
        <p14:creationId xmlns:p14="http://schemas.microsoft.com/office/powerpoint/2010/main" val="1564081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7179D6-DE6F-547B-FC6B-2F94EA504206}"/>
              </a:ext>
            </a:extLst>
          </p:cNvPr>
          <p:cNvSpPr>
            <a:spLocks noGrp="1"/>
          </p:cNvSpPr>
          <p:nvPr>
            <p:ph type="title"/>
          </p:nvPr>
        </p:nvSpPr>
        <p:spPr/>
        <p:txBody>
          <a:bodyPr/>
          <a:lstStyle/>
          <a:p>
            <a:endParaRPr lang="es-SV"/>
          </a:p>
        </p:txBody>
      </p:sp>
      <p:sp>
        <p:nvSpPr>
          <p:cNvPr id="4" name="Rectangle 1">
            <a:extLst>
              <a:ext uri="{FF2B5EF4-FFF2-40B4-BE49-F238E27FC236}">
                <a16:creationId xmlns:a16="http://schemas.microsoft.com/office/drawing/2014/main" id="{FD75D0E0-BCC4-DCD5-C0C8-09C2F1376179}"/>
              </a:ext>
            </a:extLst>
          </p:cNvPr>
          <p:cNvSpPr>
            <a:spLocks noGrp="1" noChangeArrowheads="1"/>
          </p:cNvSpPr>
          <p:nvPr>
            <p:ph idx="1"/>
          </p:nvPr>
        </p:nvSpPr>
        <p:spPr bwMode="auto">
          <a:xfrm>
            <a:off x="2589212" y="3560746"/>
            <a:ext cx="958794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Capas:</a:t>
            </a:r>
            <a:r>
              <a:rPr kumimoji="0" lang="es-SV" altLang="es-SV" sz="1800" b="0" i="0" u="none" strike="noStrike" cap="none" normalizeH="0" baseline="0" dirty="0">
                <a:ln>
                  <a:noFill/>
                </a:ln>
                <a:solidFill>
                  <a:schemeClr val="tx1"/>
                </a:solidFill>
                <a:effectLst/>
                <a:latin typeface="Arial" panose="020B0604020202020204" pitchFamily="34" charset="0"/>
              </a:rPr>
              <a:t> Presentación (UI), Lógica de Negocio y Persistencia (Base de Datos).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Componentes:</a:t>
            </a:r>
            <a:r>
              <a:rPr kumimoji="0" lang="es-SV" altLang="es-SV" sz="1800" b="0" i="0" u="none" strike="noStrike" cap="none" normalizeH="0" baseline="0" dirty="0">
                <a:ln>
                  <a:noFill/>
                </a:ln>
                <a:solidFill>
                  <a:schemeClr val="tx1"/>
                </a:solidFill>
                <a:effectLst/>
                <a:latin typeface="Arial" panose="020B0604020202020204" pitchFamily="34" charset="0"/>
              </a:rPr>
              <a:t> Módulo de Pedidos, Módulo de Inventario, Módulo de Facturación.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1" i="0" u="none" strike="noStrike" cap="none" normalizeH="0" baseline="0" dirty="0">
                <a:ln>
                  <a:noFill/>
                </a:ln>
                <a:solidFill>
                  <a:schemeClr val="tx1"/>
                </a:solidFill>
                <a:effectLst/>
                <a:latin typeface="Arial" panose="020B0604020202020204" pitchFamily="34" charset="0"/>
              </a:rPr>
              <a:t>Despliegue básico:</a:t>
            </a:r>
            <a:r>
              <a:rPr kumimoji="0" lang="es-SV" altLang="es-SV" sz="1800" b="0" i="0" u="none" strike="noStrike" cap="none" normalizeH="0" baseline="0" dirty="0">
                <a:ln>
                  <a:noFill/>
                </a:ln>
                <a:solidFill>
                  <a:schemeClr val="tx1"/>
                </a:solidFill>
                <a:effectLst/>
                <a:latin typeface="Arial" panose="020B0604020202020204" pitchFamily="34" charset="0"/>
              </a:rPr>
              <a:t> Cliente (Tablet/PC) conectado mediante una red local a un Servidor.</a:t>
            </a:r>
          </a:p>
        </p:txBody>
      </p:sp>
    </p:spTree>
    <p:extLst>
      <p:ext uri="{BB962C8B-B14F-4D97-AF65-F5344CB8AC3E}">
        <p14:creationId xmlns:p14="http://schemas.microsoft.com/office/powerpoint/2010/main" val="32279461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C42A7-2A83-504F-03D4-48F74505279E}"/>
              </a:ext>
            </a:extLst>
          </p:cNvPr>
          <p:cNvSpPr>
            <a:spLocks noGrp="1"/>
          </p:cNvSpPr>
          <p:nvPr>
            <p:ph type="title"/>
          </p:nvPr>
        </p:nvSpPr>
        <p:spPr/>
        <p:txBody>
          <a:bodyPr/>
          <a:lstStyle/>
          <a:p>
            <a:r>
              <a:rPr lang="es-SV" dirty="0"/>
              <a:t>conclusión</a:t>
            </a:r>
          </a:p>
        </p:txBody>
      </p:sp>
      <p:sp>
        <p:nvSpPr>
          <p:cNvPr id="3" name="Marcador de contenido 2">
            <a:extLst>
              <a:ext uri="{FF2B5EF4-FFF2-40B4-BE49-F238E27FC236}">
                <a16:creationId xmlns:a16="http://schemas.microsoft.com/office/drawing/2014/main" id="{88DCBE1B-26CF-74D2-A701-4A771F62AD65}"/>
              </a:ext>
            </a:extLst>
          </p:cNvPr>
          <p:cNvSpPr>
            <a:spLocks noGrp="1"/>
          </p:cNvSpPr>
          <p:nvPr>
            <p:ph idx="1"/>
          </p:nvPr>
        </p:nvSpPr>
        <p:spPr/>
        <p:txBody>
          <a:bodyPr/>
          <a:lstStyle/>
          <a:p>
            <a:r>
              <a:rPr lang="es-ES" dirty="0"/>
              <a:t>la correcta identificación de los factores de software desde la </a:t>
            </a:r>
            <a:r>
              <a:rPr lang="es-ES" b="1" dirty="0"/>
              <a:t>línea base arquitectónica</a:t>
            </a:r>
            <a:r>
              <a:rPr lang="es-ES" dirty="0"/>
              <a:t> permite que el sistema de pedidos sea escalable y profesional. Aplicar la norma </a:t>
            </a:r>
            <a:r>
              <a:rPr lang="es-ES" b="1" dirty="0"/>
              <a:t>ISO/IEC 25010</a:t>
            </a:r>
            <a:r>
              <a:rPr lang="es-ES" dirty="0"/>
              <a:t> nos asegura que el software no solo sea útil, sino también confiable y fácil de mantener para el Instituto Nacional de </a:t>
            </a:r>
            <a:r>
              <a:rPr lang="es-ES" dirty="0" err="1"/>
              <a:t>Osicala</a:t>
            </a:r>
            <a:r>
              <a:rPr lang="es-ES" dirty="0"/>
              <a:t>.</a:t>
            </a:r>
            <a:endParaRPr lang="es-SV" dirty="0"/>
          </a:p>
        </p:txBody>
      </p:sp>
    </p:spTree>
    <p:extLst>
      <p:ext uri="{BB962C8B-B14F-4D97-AF65-F5344CB8AC3E}">
        <p14:creationId xmlns:p14="http://schemas.microsoft.com/office/powerpoint/2010/main" val="50516243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A85695-9C77-EC18-1940-20A7DE73F86E}"/>
              </a:ext>
            </a:extLst>
          </p:cNvPr>
          <p:cNvSpPr>
            <a:spLocks noGrp="1"/>
          </p:cNvSpPr>
          <p:nvPr>
            <p:ph type="title"/>
          </p:nvPr>
        </p:nvSpPr>
        <p:spPr/>
        <p:txBody>
          <a:bodyPr/>
          <a:lstStyle/>
          <a:p>
            <a:r>
              <a:rPr lang="es-SV" dirty="0"/>
              <a:t>Flujos alternos de software</a:t>
            </a:r>
          </a:p>
        </p:txBody>
      </p:sp>
      <p:pic>
        <p:nvPicPr>
          <p:cNvPr id="6" name="Marcador de contenido 5">
            <a:extLst>
              <a:ext uri="{FF2B5EF4-FFF2-40B4-BE49-F238E27FC236}">
                <a16:creationId xmlns:a16="http://schemas.microsoft.com/office/drawing/2014/main" id="{F9296B1E-BE1D-2539-2FC2-E39241DB53BF}"/>
              </a:ext>
            </a:extLst>
          </p:cNvPr>
          <p:cNvPicPr>
            <a:picLocks noGrp="1" noChangeAspect="1"/>
          </p:cNvPicPr>
          <p:nvPr>
            <p:ph idx="1"/>
          </p:nvPr>
        </p:nvPicPr>
        <p:blipFill>
          <a:blip r:embed="rId2"/>
          <a:stretch>
            <a:fillRect/>
          </a:stretch>
        </p:blipFill>
        <p:spPr>
          <a:xfrm>
            <a:off x="2592925" y="2222499"/>
            <a:ext cx="5436650" cy="4330075"/>
          </a:xfrm>
          <a:prstGeom prst="rect">
            <a:avLst/>
          </a:prstGeom>
        </p:spPr>
      </p:pic>
    </p:spTree>
    <p:extLst>
      <p:ext uri="{BB962C8B-B14F-4D97-AF65-F5344CB8AC3E}">
        <p14:creationId xmlns:p14="http://schemas.microsoft.com/office/powerpoint/2010/main" val="1434249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74AB2E-78E2-3F07-88D0-0D3EDC35A048}"/>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41F5E7CF-10C6-D5F5-0381-D2DC5E6CAA3A}"/>
              </a:ext>
            </a:extLst>
          </p:cNvPr>
          <p:cNvSpPr>
            <a:spLocks noGrp="1"/>
          </p:cNvSpPr>
          <p:nvPr>
            <p:ph idx="1"/>
          </p:nvPr>
        </p:nvSpPr>
        <p:spPr/>
        <p:txBody>
          <a:bodyPr/>
          <a:lstStyle/>
          <a:p>
            <a:r>
              <a:rPr lang="es-ES" dirty="0"/>
              <a:t>Un </a:t>
            </a:r>
            <a:r>
              <a:rPr lang="es-ES" b="1" dirty="0"/>
              <a:t>flujo alterno</a:t>
            </a:r>
            <a:r>
              <a:rPr lang="es-ES" dirty="0"/>
              <a:t> describe </a:t>
            </a:r>
            <a:r>
              <a:rPr lang="es-ES" b="1" dirty="0"/>
              <a:t>qué pasa cuando el proceso principal no se sigue exactamente como se esperaba</a:t>
            </a:r>
            <a:r>
              <a:rPr lang="es-ES" dirty="0"/>
              <a:t>. Es decir, muestra </a:t>
            </a:r>
            <a:r>
              <a:rPr lang="es-ES" b="1" dirty="0"/>
              <a:t>variaciones o excepciones</a:t>
            </a:r>
            <a:r>
              <a:rPr lang="es-ES" dirty="0"/>
              <a:t> al flujo normal de un sistema.</a:t>
            </a:r>
          </a:p>
          <a:p>
            <a:r>
              <a:rPr lang="es-ES" b="1" dirty="0"/>
              <a:t>Flujo principal</a:t>
            </a:r>
            <a:endParaRPr lang="es-ES" dirty="0"/>
          </a:p>
          <a:p>
            <a:r>
              <a:rPr lang="es-ES" dirty="0"/>
              <a:t>El usuario ingresa su correo y contraseña.</a:t>
            </a:r>
          </a:p>
          <a:p>
            <a:r>
              <a:rPr lang="es-ES" dirty="0"/>
              <a:t>El sistema valida los datos.</a:t>
            </a:r>
          </a:p>
          <a:p>
            <a:r>
              <a:rPr lang="es-ES" dirty="0"/>
              <a:t>El sistema permite el acceso.</a:t>
            </a:r>
          </a:p>
          <a:p>
            <a:pPr marL="0" indent="0">
              <a:buNone/>
            </a:pPr>
            <a:endParaRPr lang="es-SV" dirty="0"/>
          </a:p>
        </p:txBody>
      </p:sp>
    </p:spTree>
    <p:extLst>
      <p:ext uri="{BB962C8B-B14F-4D97-AF65-F5344CB8AC3E}">
        <p14:creationId xmlns:p14="http://schemas.microsoft.com/office/powerpoint/2010/main" val="4116234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DD8F7E-6D75-1362-6ABF-CCCD723DC8CA}"/>
              </a:ext>
            </a:extLst>
          </p:cNvPr>
          <p:cNvSpPr>
            <a:spLocks noGrp="1"/>
          </p:cNvSpPr>
          <p:nvPr>
            <p:ph type="title"/>
          </p:nvPr>
        </p:nvSpPr>
        <p:spPr/>
        <p:txBody>
          <a:bodyPr/>
          <a:lstStyle/>
          <a:p>
            <a:endParaRPr lang="es-SV"/>
          </a:p>
        </p:txBody>
      </p:sp>
      <p:sp>
        <p:nvSpPr>
          <p:cNvPr id="4" name="Rectangle 1">
            <a:extLst>
              <a:ext uri="{FF2B5EF4-FFF2-40B4-BE49-F238E27FC236}">
                <a16:creationId xmlns:a16="http://schemas.microsoft.com/office/drawing/2014/main" id="{E534AA1C-58D9-341A-671B-52CF2AA91189}"/>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usuario ingresa credenciales.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sistema detecta que la contraseña es incorrecta.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sistema muestra un mensaje de error.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usuario puede intentar nuevamente.</a:t>
            </a:r>
          </a:p>
        </p:txBody>
      </p:sp>
    </p:spTree>
    <p:extLst>
      <p:ext uri="{BB962C8B-B14F-4D97-AF65-F5344CB8AC3E}">
        <p14:creationId xmlns:p14="http://schemas.microsoft.com/office/powerpoint/2010/main" val="49038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7AF4C8-E6C7-EA58-4793-8DD4B938D542}"/>
              </a:ext>
            </a:extLst>
          </p:cNvPr>
          <p:cNvSpPr>
            <a:spLocks noGrp="1"/>
          </p:cNvSpPr>
          <p:nvPr>
            <p:ph type="title"/>
          </p:nvPr>
        </p:nvSpPr>
        <p:spPr/>
        <p:txBody>
          <a:bodyPr/>
          <a:lstStyle/>
          <a:p>
            <a:endParaRPr lang="es-SV"/>
          </a:p>
        </p:txBody>
      </p:sp>
      <p:sp>
        <p:nvSpPr>
          <p:cNvPr id="4" name="Rectangle 1">
            <a:extLst>
              <a:ext uri="{FF2B5EF4-FFF2-40B4-BE49-F238E27FC236}">
                <a16:creationId xmlns:a16="http://schemas.microsoft.com/office/drawing/2014/main" id="{DFDD7EC0-4039-8CF6-0049-519F2862181B}"/>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usuario ingresa un correo que no existe.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El sistema muestra mensaje: “usuario no registrado”.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SV" altLang="es-SV" sz="1800" b="0" i="0" u="none" strike="noStrike" cap="none" normalizeH="0" baseline="0" dirty="0">
                <a:ln>
                  <a:noFill/>
                </a:ln>
                <a:solidFill>
                  <a:schemeClr val="tx1"/>
                </a:solidFill>
                <a:effectLst/>
                <a:latin typeface="Arial" panose="020B0604020202020204" pitchFamily="34" charset="0"/>
              </a:rPr>
              <a:t>Se ofrece opción de registro.</a:t>
            </a:r>
          </a:p>
        </p:txBody>
      </p:sp>
    </p:spTree>
    <p:extLst>
      <p:ext uri="{BB962C8B-B14F-4D97-AF65-F5344CB8AC3E}">
        <p14:creationId xmlns:p14="http://schemas.microsoft.com/office/powerpoint/2010/main" val="2281238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6B666B-670B-62F9-2F66-5CB09586F174}"/>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0ADB6D15-392F-FA42-0917-6F13E6433467}"/>
              </a:ext>
            </a:extLst>
          </p:cNvPr>
          <p:cNvSpPr>
            <a:spLocks noGrp="1"/>
          </p:cNvSpPr>
          <p:nvPr>
            <p:ph idx="1"/>
          </p:nvPr>
        </p:nvSpPr>
        <p:spPr/>
        <p:txBody>
          <a:bodyPr/>
          <a:lstStyle/>
          <a:p>
            <a:r>
              <a:rPr lang="es-ES" dirty="0"/>
              <a:t>Los </a:t>
            </a:r>
            <a:r>
              <a:rPr lang="es-ES" b="1" dirty="0"/>
              <a:t>flujos alternos</a:t>
            </a:r>
            <a:r>
              <a:rPr lang="es-ES" dirty="0"/>
              <a:t> son </a:t>
            </a:r>
            <a:r>
              <a:rPr lang="es-ES" b="1" dirty="0"/>
              <a:t>caminos diferentes al flujo principal que describen qué ocurre cuando algo cambia o falla en un proceso del sistema</a:t>
            </a:r>
            <a:r>
              <a:rPr lang="es-ES" dirty="0"/>
              <a:t>.</a:t>
            </a:r>
          </a:p>
          <a:p>
            <a:endParaRPr lang="es-SV" dirty="0"/>
          </a:p>
        </p:txBody>
      </p:sp>
    </p:spTree>
    <p:extLst>
      <p:ext uri="{BB962C8B-B14F-4D97-AF65-F5344CB8AC3E}">
        <p14:creationId xmlns:p14="http://schemas.microsoft.com/office/powerpoint/2010/main" val="2430035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A37F0-6858-F3E4-DE39-E27AECE575B2}"/>
              </a:ext>
            </a:extLst>
          </p:cNvPr>
          <p:cNvSpPr>
            <a:spLocks noGrp="1"/>
          </p:cNvSpPr>
          <p:nvPr>
            <p:ph type="title"/>
          </p:nvPr>
        </p:nvSpPr>
        <p:spPr/>
        <p:txBody>
          <a:bodyPr/>
          <a:lstStyle/>
          <a:p>
            <a:r>
              <a:rPr lang="es-ES" dirty="0" err="1"/>
              <a:t>descripcion</a:t>
            </a:r>
            <a:r>
              <a:rPr lang="es-ES" dirty="0"/>
              <a:t> de un caso de uso de un </a:t>
            </a:r>
            <a:r>
              <a:rPr lang="es-ES" dirty="0" err="1"/>
              <a:t>uml</a:t>
            </a:r>
            <a:endParaRPr lang="es-SV" dirty="0"/>
          </a:p>
        </p:txBody>
      </p:sp>
      <p:sp>
        <p:nvSpPr>
          <p:cNvPr id="3" name="Marcador de contenido 2">
            <a:extLst>
              <a:ext uri="{FF2B5EF4-FFF2-40B4-BE49-F238E27FC236}">
                <a16:creationId xmlns:a16="http://schemas.microsoft.com/office/drawing/2014/main" id="{F08F3091-6988-5C20-63D2-D2EA63BBA0BF}"/>
              </a:ext>
            </a:extLst>
          </p:cNvPr>
          <p:cNvSpPr>
            <a:spLocks noGrp="1"/>
          </p:cNvSpPr>
          <p:nvPr>
            <p:ph idx="1"/>
          </p:nvPr>
        </p:nvSpPr>
        <p:spPr/>
        <p:txBody>
          <a:bodyPr/>
          <a:lstStyle/>
          <a:p>
            <a:r>
              <a:rPr lang="es-ES" dirty="0"/>
              <a:t>La </a:t>
            </a:r>
            <a:r>
              <a:rPr lang="es-ES" b="1" dirty="0"/>
              <a:t>descripción de un caso de uso en UML</a:t>
            </a:r>
            <a:r>
              <a:rPr lang="es-ES" dirty="0"/>
              <a:t> es un documento que explica </a:t>
            </a:r>
            <a:r>
              <a:rPr lang="es-ES" b="1" dirty="0"/>
              <a:t>cómo un usuario interactúa con un sistema para lograr un objetivo específico</a:t>
            </a:r>
            <a:r>
              <a:rPr lang="es-ES" dirty="0"/>
              <a:t>. Se utiliza dentro del modelado de sistemas en Lenguaje Unificado de Modelado y en la Ingeniería de Software.</a:t>
            </a:r>
          </a:p>
          <a:p>
            <a:r>
              <a:rPr lang="es-ES" dirty="0"/>
              <a:t>Un </a:t>
            </a:r>
            <a:r>
              <a:rPr lang="es-ES" b="1" dirty="0"/>
              <a:t>caso de uso</a:t>
            </a:r>
            <a:r>
              <a:rPr lang="es-ES" dirty="0"/>
              <a:t> describe </a:t>
            </a:r>
            <a:r>
              <a:rPr lang="es-ES" b="1" dirty="0"/>
              <a:t>qué hace el sistema desde el punto de vista del usuario</a:t>
            </a:r>
            <a:r>
              <a:rPr lang="es-ES" dirty="0"/>
              <a:t>, no cómo está programado.</a:t>
            </a:r>
          </a:p>
          <a:p>
            <a:endParaRPr lang="es-SV" dirty="0"/>
          </a:p>
        </p:txBody>
      </p:sp>
    </p:spTree>
    <p:extLst>
      <p:ext uri="{BB962C8B-B14F-4D97-AF65-F5344CB8AC3E}">
        <p14:creationId xmlns:p14="http://schemas.microsoft.com/office/powerpoint/2010/main" val="3973775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61EDBD-8EB3-C74C-B577-79D9FCF68E09}"/>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4B4BE7B3-7279-0A58-7951-811DD73025C8}"/>
              </a:ext>
            </a:extLst>
          </p:cNvPr>
          <p:cNvSpPr>
            <a:spLocks noGrp="1"/>
          </p:cNvSpPr>
          <p:nvPr>
            <p:ph idx="1"/>
          </p:nvPr>
        </p:nvSpPr>
        <p:spPr/>
        <p:txBody>
          <a:bodyPr/>
          <a:lstStyle/>
          <a:p>
            <a:r>
              <a:rPr lang="es-ES" b="1" dirty="0"/>
              <a:t>1. Nombre del caso de uso</a:t>
            </a:r>
          </a:p>
          <a:p>
            <a:r>
              <a:rPr lang="es-ES" dirty="0"/>
              <a:t>Identifica la acción principal del sistema.</a:t>
            </a:r>
          </a:p>
          <a:p>
            <a:r>
              <a:rPr lang="es-ES" b="1" dirty="0"/>
              <a:t>Ejemplo:</a:t>
            </a:r>
            <a:br>
              <a:rPr lang="es-ES" dirty="0"/>
            </a:br>
            <a:r>
              <a:rPr lang="es-ES" dirty="0"/>
              <a:t>Registrar usuario</a:t>
            </a:r>
          </a:p>
          <a:p>
            <a:r>
              <a:rPr lang="es-ES" b="1" dirty="0"/>
              <a:t>2. Actor</a:t>
            </a:r>
          </a:p>
          <a:p>
            <a:r>
              <a:rPr lang="es-ES" dirty="0"/>
              <a:t>Es la persona o sistema externo que interactúa con el sistema.</a:t>
            </a:r>
          </a:p>
          <a:p>
            <a:r>
              <a:rPr lang="es-ES" b="1" dirty="0"/>
              <a:t>Ejemplo:</a:t>
            </a:r>
            <a:br>
              <a:rPr lang="es-ES" dirty="0"/>
            </a:br>
            <a:r>
              <a:rPr lang="es-ES" dirty="0"/>
              <a:t>Cliente / Usuario</a:t>
            </a:r>
          </a:p>
          <a:p>
            <a:endParaRPr lang="es-SV" dirty="0"/>
          </a:p>
        </p:txBody>
      </p:sp>
    </p:spTree>
    <p:extLst>
      <p:ext uri="{BB962C8B-B14F-4D97-AF65-F5344CB8AC3E}">
        <p14:creationId xmlns:p14="http://schemas.microsoft.com/office/powerpoint/2010/main" val="1606062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914ECA-C19A-E9C0-5589-93ABBD2D8622}"/>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6A4E6A32-274A-EF42-3A02-9EE179CC1E7F}"/>
              </a:ext>
            </a:extLst>
          </p:cNvPr>
          <p:cNvSpPr>
            <a:spLocks noGrp="1"/>
          </p:cNvSpPr>
          <p:nvPr>
            <p:ph idx="1"/>
          </p:nvPr>
        </p:nvSpPr>
        <p:spPr>
          <a:xfrm>
            <a:off x="2589212" y="2133600"/>
            <a:ext cx="8915400" cy="4100290"/>
          </a:xfrm>
        </p:spPr>
        <p:txBody>
          <a:bodyPr/>
          <a:lstStyle/>
          <a:p>
            <a:r>
              <a:rPr lang="es-ES" b="1" dirty="0"/>
              <a:t>3. Descripción</a:t>
            </a:r>
          </a:p>
          <a:p>
            <a:r>
              <a:rPr lang="es-ES" dirty="0"/>
              <a:t>Explica brevemente qué hace el caso de uso.</a:t>
            </a:r>
          </a:p>
          <a:p>
            <a:r>
              <a:rPr lang="es-ES" b="1" dirty="0"/>
              <a:t>Ejemplo:</a:t>
            </a:r>
            <a:br>
              <a:rPr lang="es-ES" dirty="0"/>
            </a:br>
            <a:r>
              <a:rPr lang="es-ES" dirty="0"/>
              <a:t>Permite que un nuevo usuario cree una cuenta en el sistema ingresando sus datos personales.</a:t>
            </a:r>
          </a:p>
          <a:p>
            <a:r>
              <a:rPr lang="es-ES" b="1" dirty="0"/>
              <a:t>4. Precondiciones</a:t>
            </a:r>
          </a:p>
          <a:p>
            <a:r>
              <a:rPr lang="es-ES" dirty="0"/>
              <a:t>Condiciones que deben cumplirse antes de iniciar el caso de uso.</a:t>
            </a:r>
          </a:p>
          <a:p>
            <a:r>
              <a:rPr lang="es-ES" b="1" dirty="0"/>
              <a:t>Ejemplo:</a:t>
            </a:r>
            <a:endParaRPr lang="es-ES" dirty="0"/>
          </a:p>
          <a:p>
            <a:r>
              <a:rPr lang="es-ES" dirty="0"/>
              <a:t>El usuario debe tener acceso a internet.</a:t>
            </a:r>
          </a:p>
          <a:p>
            <a:r>
              <a:rPr lang="es-ES" dirty="0"/>
              <a:t>El sistema debe estar disponible.</a:t>
            </a:r>
          </a:p>
          <a:p>
            <a:endParaRPr lang="es-SV" dirty="0"/>
          </a:p>
        </p:txBody>
      </p:sp>
    </p:spTree>
    <p:extLst>
      <p:ext uri="{BB962C8B-B14F-4D97-AF65-F5344CB8AC3E}">
        <p14:creationId xmlns:p14="http://schemas.microsoft.com/office/powerpoint/2010/main" val="3708989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51168-3F9B-71A2-5279-3E951016AF33}"/>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08AFA2CB-D405-FAC9-EA86-82678E486BA7}"/>
              </a:ext>
            </a:extLst>
          </p:cNvPr>
          <p:cNvSpPr>
            <a:spLocks noGrp="1"/>
          </p:cNvSpPr>
          <p:nvPr>
            <p:ph idx="1"/>
          </p:nvPr>
        </p:nvSpPr>
        <p:spPr/>
        <p:txBody>
          <a:bodyPr/>
          <a:lstStyle/>
          <a:p>
            <a:r>
              <a:rPr lang="es-ES" b="1" dirty="0"/>
              <a:t>5. Flujo principal (flujo normal)</a:t>
            </a:r>
          </a:p>
          <a:p>
            <a:r>
              <a:rPr lang="es-ES" dirty="0"/>
              <a:t>Describe los pasos cuando todo funciona correctamente.</a:t>
            </a:r>
          </a:p>
          <a:p>
            <a:r>
              <a:rPr lang="es-ES" b="1" dirty="0"/>
              <a:t>Ejemplo:</a:t>
            </a:r>
            <a:endParaRPr lang="es-ES" dirty="0"/>
          </a:p>
          <a:p>
            <a:r>
              <a:rPr lang="es-ES" dirty="0"/>
              <a:t>El usuario accede al formulario de registro.</a:t>
            </a:r>
          </a:p>
          <a:p>
            <a:r>
              <a:rPr lang="es-ES" dirty="0"/>
              <a:t>El usuario ingresa sus datos (nombre, correo, contraseña).</a:t>
            </a:r>
          </a:p>
          <a:p>
            <a:r>
              <a:rPr lang="es-ES" dirty="0"/>
              <a:t>El usuario presiona el botón “registrar”.</a:t>
            </a:r>
          </a:p>
          <a:p>
            <a:r>
              <a:rPr lang="es-ES" dirty="0"/>
              <a:t>El sistema valida la información.</a:t>
            </a:r>
          </a:p>
          <a:p>
            <a:r>
              <a:rPr lang="es-ES" dirty="0"/>
              <a:t>El sistema guarda los datos del usuario.</a:t>
            </a:r>
          </a:p>
          <a:p>
            <a:r>
              <a:rPr lang="es-ES" dirty="0"/>
              <a:t>El sistema confirma el registro exitoso.</a:t>
            </a:r>
          </a:p>
          <a:p>
            <a:endParaRPr lang="es-SV" dirty="0"/>
          </a:p>
        </p:txBody>
      </p:sp>
    </p:spTree>
    <p:extLst>
      <p:ext uri="{BB962C8B-B14F-4D97-AF65-F5344CB8AC3E}">
        <p14:creationId xmlns:p14="http://schemas.microsoft.com/office/powerpoint/2010/main" val="2133070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AB490-B7B4-D755-F0A5-53924C3BFA4B}"/>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F7592D08-E4CC-E189-D026-98A471F62F45}"/>
              </a:ext>
            </a:extLst>
          </p:cNvPr>
          <p:cNvSpPr>
            <a:spLocks noGrp="1"/>
          </p:cNvSpPr>
          <p:nvPr>
            <p:ph idx="1"/>
          </p:nvPr>
        </p:nvSpPr>
        <p:spPr/>
        <p:txBody>
          <a:bodyPr/>
          <a:lstStyle/>
          <a:p>
            <a:r>
              <a:rPr lang="es-ES" b="1" dirty="0"/>
              <a:t>6. Flujos alternos</a:t>
            </a:r>
          </a:p>
          <a:p>
            <a:r>
              <a:rPr lang="es-ES" dirty="0"/>
              <a:t>Son situaciones diferentes que pueden ocurrir.</a:t>
            </a:r>
          </a:p>
          <a:p>
            <a:r>
              <a:rPr lang="es-ES" b="1" dirty="0"/>
              <a:t>Ejemplo:</a:t>
            </a:r>
            <a:endParaRPr lang="es-ES" dirty="0"/>
          </a:p>
          <a:p>
            <a:r>
              <a:rPr lang="es-ES" b="1" dirty="0"/>
              <a:t>A1 – Correo ya registrado</a:t>
            </a:r>
            <a:endParaRPr lang="es-ES" dirty="0"/>
          </a:p>
          <a:p>
            <a:r>
              <a:rPr lang="es-ES" dirty="0"/>
              <a:t>El sistema detecta que el correo ya existe.</a:t>
            </a:r>
          </a:p>
          <a:p>
            <a:r>
              <a:rPr lang="es-ES" dirty="0"/>
              <a:t>El sistema muestra un mensaje: “correo ya registrado”.</a:t>
            </a:r>
          </a:p>
          <a:p>
            <a:r>
              <a:rPr lang="es-ES" b="1" dirty="0"/>
              <a:t>A2 – Datos incompletos</a:t>
            </a:r>
            <a:endParaRPr lang="es-ES" dirty="0"/>
          </a:p>
          <a:p>
            <a:r>
              <a:rPr lang="es-ES" dirty="0"/>
              <a:t>El usuario deja campos vacíos.</a:t>
            </a:r>
          </a:p>
          <a:p>
            <a:r>
              <a:rPr lang="es-ES" dirty="0"/>
              <a:t>El sistema solicita completar los campos obligatorios.</a:t>
            </a:r>
          </a:p>
          <a:p>
            <a:endParaRPr lang="es-SV" dirty="0"/>
          </a:p>
        </p:txBody>
      </p:sp>
    </p:spTree>
    <p:extLst>
      <p:ext uri="{BB962C8B-B14F-4D97-AF65-F5344CB8AC3E}">
        <p14:creationId xmlns:p14="http://schemas.microsoft.com/office/powerpoint/2010/main" val="1811147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50677-F6F4-54C2-24CE-7A56C8DB2A6B}"/>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C330A33E-7C6F-569F-7EAB-1C79FBFE8EFC}"/>
              </a:ext>
            </a:extLst>
          </p:cNvPr>
          <p:cNvSpPr>
            <a:spLocks noGrp="1"/>
          </p:cNvSpPr>
          <p:nvPr>
            <p:ph idx="1"/>
          </p:nvPr>
        </p:nvSpPr>
        <p:spPr/>
        <p:txBody>
          <a:bodyPr>
            <a:normAutofit/>
          </a:bodyPr>
          <a:lstStyle/>
          <a:p>
            <a:r>
              <a:rPr lang="es-ES" b="1" dirty="0"/>
              <a:t>7. Postcondiciones</a:t>
            </a:r>
          </a:p>
          <a:p>
            <a:r>
              <a:rPr lang="es-ES" dirty="0"/>
              <a:t>Describe el estado del sistema después de finalizar el caso de uso.</a:t>
            </a:r>
          </a:p>
          <a:p>
            <a:r>
              <a:rPr lang="es-ES" b="1" dirty="0"/>
              <a:t>Ejemplo:</a:t>
            </a:r>
            <a:endParaRPr lang="es-ES" dirty="0"/>
          </a:p>
          <a:p>
            <a:r>
              <a:rPr lang="es-ES" dirty="0"/>
              <a:t>El usuario queda registrado en la base de datos.</a:t>
            </a:r>
          </a:p>
          <a:p>
            <a:r>
              <a:rPr lang="es-ES" dirty="0"/>
              <a:t>El usuario puede iniciar sesión.</a:t>
            </a:r>
            <a:br>
              <a:rPr lang="es-ES" dirty="0"/>
            </a:br>
            <a:r>
              <a:rPr lang="es-ES" dirty="0"/>
              <a:t> </a:t>
            </a:r>
            <a:r>
              <a:rPr lang="es-ES" b="1" dirty="0"/>
              <a:t>En resumen:</a:t>
            </a:r>
            <a:br>
              <a:rPr lang="es-ES" dirty="0"/>
            </a:br>
            <a:r>
              <a:rPr lang="es-ES" dirty="0"/>
              <a:t>La descripción de un caso de uso en UML explica </a:t>
            </a:r>
            <a:r>
              <a:rPr lang="es-ES" b="1" dirty="0"/>
              <a:t>actores, pasos del proceso, flujos alternos y condiciones</a:t>
            </a:r>
            <a:r>
              <a:rPr lang="es-ES" dirty="0"/>
              <a:t>, permitiendo entender </a:t>
            </a:r>
            <a:r>
              <a:rPr lang="es-ES" b="1" dirty="0"/>
              <a:t>cómo interactúan los usuarios con el sistema</a:t>
            </a:r>
            <a:r>
              <a:rPr lang="es-ES" dirty="0"/>
              <a:t>.</a:t>
            </a:r>
          </a:p>
          <a:p>
            <a:endParaRPr lang="es-SV" dirty="0"/>
          </a:p>
        </p:txBody>
      </p:sp>
    </p:spTree>
    <p:extLst>
      <p:ext uri="{BB962C8B-B14F-4D97-AF65-F5344CB8AC3E}">
        <p14:creationId xmlns:p14="http://schemas.microsoft.com/office/powerpoint/2010/main" val="3016226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114</TotalTime>
  <Words>1843</Words>
  <Application>Microsoft Office PowerPoint</Application>
  <PresentationFormat>Panorámica</PresentationFormat>
  <Paragraphs>116</Paragraphs>
  <Slides>29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Century Gothic</vt:lpstr>
      <vt:lpstr>Wingdings 3</vt:lpstr>
      <vt:lpstr>Espiral</vt:lpstr>
      <vt:lpstr>Casos de uso de uml</vt:lpstr>
      <vt:lpstr>Casos de uso de uml</vt:lpstr>
      <vt:lpstr>Presentación de PowerPoint</vt:lpstr>
      <vt:lpstr>Presentación de PowerPoint</vt:lpstr>
      <vt:lpstr>Presentación de PowerPoint</vt:lpstr>
      <vt:lpstr>Factores y sistemas de software por separado</vt:lpstr>
      <vt:lpstr>Presentación de PowerPoint</vt:lpstr>
      <vt:lpstr>Presentación de PowerPoint</vt:lpstr>
      <vt:lpstr>caracteristicas</vt:lpstr>
      <vt:lpstr>Presentación de PowerPoint</vt:lpstr>
      <vt:lpstr>conclusion</vt:lpstr>
      <vt:lpstr>Factores de software</vt:lpstr>
      <vt:lpstr>Presentación de PowerPoint</vt:lpstr>
      <vt:lpstr>Presentación de PowerPoint</vt:lpstr>
      <vt:lpstr>Presentación de PowerPoint</vt:lpstr>
      <vt:lpstr>Presentación de PowerPoint</vt:lpstr>
      <vt:lpstr>Presentación de PowerPoint</vt:lpstr>
      <vt:lpstr>conclusión</vt:lpstr>
      <vt:lpstr>Flujos alternos de software</vt:lpstr>
      <vt:lpstr>Presentación de PowerPoint</vt:lpstr>
      <vt:lpstr>Presentación de PowerPoint</vt:lpstr>
      <vt:lpstr>Presentación de PowerPoint</vt:lpstr>
      <vt:lpstr>Presentación de PowerPoint</vt:lpstr>
      <vt:lpstr>descripcion de un caso de uso de un uml</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Diego</dc:creator>
  <cp:lastModifiedBy>Diego</cp:lastModifiedBy>
  <cp:revision>2</cp:revision>
  <dcterms:created xsi:type="dcterms:W3CDTF">2026-03-09T16:44:09Z</dcterms:created>
  <dcterms:modified xsi:type="dcterms:W3CDTF">2026-03-09T19:03:48Z</dcterms:modified>
</cp:coreProperties>
</file>