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E4D449A-D471-4D8F-8FA8-53ADF4A58A10}" type="datetimeFigureOut">
              <a:rPr lang="es-SV" smtClean="0"/>
              <a:t>13/4/2026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a:xfrm>
            <a:off x="9255346" y="2750337"/>
            <a:ext cx="1171888" cy="1356442"/>
          </a:xfrm>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3042257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E4D449A-D471-4D8F-8FA8-53ADF4A58A10}" type="datetimeFigureOut">
              <a:rPr lang="es-SV" smtClean="0"/>
              <a:t>13/4/2026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1306233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E4D449A-D471-4D8F-8FA8-53ADF4A58A10}" type="datetimeFigureOut">
              <a:rPr lang="es-SV" smtClean="0"/>
              <a:t>13/4/2026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a:xfrm>
            <a:off x="10729455" y="2869895"/>
            <a:ext cx="1154151" cy="1090789"/>
          </a:xfrm>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2840326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E4D449A-D471-4D8F-8FA8-53ADF4A58A10}" type="datetimeFigureOut">
              <a:rPr lang="es-SV" smtClean="0"/>
              <a:t>13/4/2026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1057969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0322" y="3030008"/>
            <a:ext cx="4698355"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594123" y="3030008"/>
            <a:ext cx="4700059"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E4D449A-D471-4D8F-8FA8-53ADF4A58A10}" type="datetimeFigureOut">
              <a:rPr lang="es-SV" smtClean="0"/>
              <a:t>13/4/2026</a:t>
            </a:fld>
            <a:endParaRPr lang="es-SV"/>
          </a:p>
        </p:txBody>
      </p:sp>
      <p:sp>
        <p:nvSpPr>
          <p:cNvPr id="8" name="Footer Placeholder 7"/>
          <p:cNvSpPr>
            <a:spLocks noGrp="1"/>
          </p:cNvSpPr>
          <p:nvPr>
            <p:ph type="ftr" sz="quarter" idx="11"/>
          </p:nvPr>
        </p:nvSpPr>
        <p:spPr/>
        <p:txBody>
          <a:bodyPr/>
          <a:lstStyle/>
          <a:p>
            <a:endParaRPr lang="es-SV"/>
          </a:p>
        </p:txBody>
      </p:sp>
      <p:sp>
        <p:nvSpPr>
          <p:cNvPr id="9" name="Slide Number Placeholder 8"/>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766999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E4D449A-D471-4D8F-8FA8-53ADF4A58A10}" type="datetimeFigureOut">
              <a:rPr lang="es-SV" smtClean="0"/>
              <a:t>13/4/2026</a:t>
            </a:fld>
            <a:endParaRPr lang="es-SV"/>
          </a:p>
        </p:txBody>
      </p:sp>
      <p:sp>
        <p:nvSpPr>
          <p:cNvPr id="4" name="Footer Placeholder 3"/>
          <p:cNvSpPr>
            <a:spLocks noGrp="1"/>
          </p:cNvSpPr>
          <p:nvPr>
            <p:ph type="ftr" sz="quarter" idx="11"/>
          </p:nvPr>
        </p:nvSpPr>
        <p:spPr/>
        <p:txBody>
          <a:bodyPr/>
          <a:lstStyle/>
          <a:p>
            <a:endParaRPr lang="es-SV"/>
          </a:p>
        </p:txBody>
      </p:sp>
      <p:sp>
        <p:nvSpPr>
          <p:cNvPr id="5" name="Slide Number Placeholder 4"/>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1795244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CE4D449A-D471-4D8F-8FA8-53ADF4A58A10}" type="datetimeFigureOut">
              <a:rPr lang="es-SV" smtClean="0"/>
              <a:t>13/4/2026</a:t>
            </a:fld>
            <a:endParaRPr lang="es-SV"/>
          </a:p>
        </p:txBody>
      </p:sp>
      <p:sp>
        <p:nvSpPr>
          <p:cNvPr id="3" name="Footer Placeholder 2"/>
          <p:cNvSpPr>
            <a:spLocks noGrp="1"/>
          </p:cNvSpPr>
          <p:nvPr>
            <p:ph type="ftr" sz="quarter" idx="11"/>
          </p:nvPr>
        </p:nvSpPr>
        <p:spPr/>
        <p:txBody>
          <a:bodyPr/>
          <a:lstStyle/>
          <a:p>
            <a:endParaRPr lang="es-SV"/>
          </a:p>
        </p:txBody>
      </p:sp>
      <p:sp>
        <p:nvSpPr>
          <p:cNvPr id="4" name="Slide Number Placeholder 3"/>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1873082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E4D449A-D471-4D8F-8FA8-53ADF4A58A10}" type="datetimeFigureOut">
              <a:rPr lang="es-SV" smtClean="0"/>
              <a:t>13/4/2026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3550732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E4D449A-D471-4D8F-8FA8-53ADF4A58A10}" type="datetimeFigureOut">
              <a:rPr lang="es-SV" smtClean="0"/>
              <a:t>13/4/2026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335045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E4D449A-D471-4D8F-8FA8-53ADF4A58A10}" type="datetimeFigureOut">
              <a:rPr lang="es-SV" smtClean="0"/>
              <a:t>13/4/2026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a:xfrm>
            <a:off x="10729455" y="4711309"/>
            <a:ext cx="1154151" cy="1090789"/>
          </a:xfrm>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272163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E4D449A-D471-4D8F-8FA8-53ADF4A58A10}" type="datetimeFigureOut">
              <a:rPr lang="es-SV" smtClean="0"/>
              <a:t>13/4/2026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a:xfrm>
            <a:off x="10729455" y="4711615"/>
            <a:ext cx="1154151" cy="1090789"/>
          </a:xfrm>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1831043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E4D449A-D471-4D8F-8FA8-53ADF4A58A10}" type="datetimeFigureOut">
              <a:rPr lang="es-SV" smtClean="0"/>
              <a:t>13/4/2026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a:xfrm>
            <a:off x="10729455" y="4709925"/>
            <a:ext cx="1154151" cy="1090789"/>
          </a:xfrm>
        </p:spPr>
        <p:txBody>
          <a:bodyPr/>
          <a:lstStyle/>
          <a:p>
            <a:fld id="{0FEA3802-7BE5-4101-975A-178C8648BB01}" type="slidenum">
              <a:rPr lang="es-SV" smtClean="0"/>
              <a:t>‹Nº›</a:t>
            </a:fld>
            <a:endParaRPr lang="es-SV"/>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265485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E4D449A-D471-4D8F-8FA8-53ADF4A58A10}" type="datetimeFigureOut">
              <a:rPr lang="es-SV" smtClean="0"/>
              <a:t>13/4/2026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a:xfrm>
            <a:off x="10729455" y="4709925"/>
            <a:ext cx="1154151" cy="1090789"/>
          </a:xfrm>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2551197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E4D449A-D471-4D8F-8FA8-53ADF4A58A10}" type="datetimeFigureOut">
              <a:rPr lang="es-SV" smtClean="0"/>
              <a:t>13/4/2026</a:t>
            </a:fld>
            <a:endParaRPr lang="es-SV"/>
          </a:p>
        </p:txBody>
      </p:sp>
      <p:sp>
        <p:nvSpPr>
          <p:cNvPr id="4" name="Footer Placeholder 3"/>
          <p:cNvSpPr>
            <a:spLocks noGrp="1"/>
          </p:cNvSpPr>
          <p:nvPr>
            <p:ph type="ftr" sz="quarter" idx="11"/>
          </p:nvPr>
        </p:nvSpPr>
        <p:spPr/>
        <p:txBody>
          <a:bodyPr/>
          <a:lstStyle/>
          <a:p>
            <a:endParaRPr lang="es-SV"/>
          </a:p>
        </p:txBody>
      </p:sp>
      <p:sp>
        <p:nvSpPr>
          <p:cNvPr id="5" name="Slide Number Placeholder 4"/>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6981832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E4D449A-D471-4D8F-8FA8-53ADF4A58A10}" type="datetimeFigureOut">
              <a:rPr lang="es-SV" smtClean="0"/>
              <a:t>13/4/2026</a:t>
            </a:fld>
            <a:endParaRPr lang="es-SV"/>
          </a:p>
        </p:txBody>
      </p:sp>
      <p:sp>
        <p:nvSpPr>
          <p:cNvPr id="4" name="Footer Placeholder 3"/>
          <p:cNvSpPr>
            <a:spLocks noGrp="1"/>
          </p:cNvSpPr>
          <p:nvPr>
            <p:ph type="ftr" sz="quarter" idx="11"/>
          </p:nvPr>
        </p:nvSpPr>
        <p:spPr/>
        <p:txBody>
          <a:bodyPr/>
          <a:lstStyle/>
          <a:p>
            <a:endParaRPr lang="es-SV"/>
          </a:p>
        </p:txBody>
      </p:sp>
      <p:sp>
        <p:nvSpPr>
          <p:cNvPr id="5" name="Slide Number Placeholder 4"/>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1155452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E4D449A-D471-4D8F-8FA8-53ADF4A58A10}" type="datetimeFigureOut">
              <a:rPr lang="es-SV" smtClean="0"/>
              <a:t>13/4/2026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0FEA3802-7BE5-4101-975A-178C8648BB01}" type="slidenum">
              <a:rPr lang="es-SV" smtClean="0"/>
              <a:t>‹Nº›</a:t>
            </a:fld>
            <a:endParaRPr lang="es-SV"/>
          </a:p>
        </p:txBody>
      </p:sp>
    </p:spTree>
    <p:extLst>
      <p:ext uri="{BB962C8B-B14F-4D97-AF65-F5344CB8AC3E}">
        <p14:creationId xmlns:p14="http://schemas.microsoft.com/office/powerpoint/2010/main" val="2237207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CE4D449A-D471-4D8F-8FA8-53ADF4A58A10}" type="datetimeFigureOut">
              <a:rPr lang="es-SV" smtClean="0"/>
              <a:t>13/4/2026</a:t>
            </a:fld>
            <a:endParaRPr lang="es-SV"/>
          </a:p>
        </p:txBody>
      </p:sp>
      <p:sp>
        <p:nvSpPr>
          <p:cNvPr id="5" name="Footer Placeholder 4"/>
          <p:cNvSpPr>
            <a:spLocks noGrp="1"/>
          </p:cNvSpPr>
          <p:nvPr>
            <p:ph type="ftr" sz="quarter" idx="11"/>
          </p:nvPr>
        </p:nvSpPr>
        <p:spPr>
          <a:xfrm>
            <a:off x="680321" y="5936188"/>
            <a:ext cx="6126805" cy="365125"/>
          </a:xfrm>
        </p:spPr>
        <p:txBody>
          <a:bodyPr/>
          <a:lstStyle/>
          <a:p>
            <a:endParaRPr lang="es-SV"/>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FEA3802-7BE5-4101-975A-178C8648BB01}" type="slidenum">
              <a:rPr lang="es-SV" smtClean="0"/>
              <a:t>‹Nº›</a:t>
            </a:fld>
            <a:endParaRPr lang="es-SV"/>
          </a:p>
        </p:txBody>
      </p:sp>
    </p:spTree>
    <p:extLst>
      <p:ext uri="{BB962C8B-B14F-4D97-AF65-F5344CB8AC3E}">
        <p14:creationId xmlns:p14="http://schemas.microsoft.com/office/powerpoint/2010/main" val="1659877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E4D449A-D471-4D8F-8FA8-53ADF4A58A10}" type="datetimeFigureOut">
              <a:rPr lang="es-SV" smtClean="0"/>
              <a:t>13/4/2026</a:t>
            </a:fld>
            <a:endParaRPr lang="es-SV"/>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s-SV"/>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FEA3802-7BE5-4101-975A-178C8648BB01}" type="slidenum">
              <a:rPr lang="es-SV" smtClean="0"/>
              <a:t>‹Nº›</a:t>
            </a:fld>
            <a:endParaRPr lang="es-SV"/>
          </a:p>
        </p:txBody>
      </p:sp>
    </p:spTree>
    <p:extLst>
      <p:ext uri="{BB962C8B-B14F-4D97-AF65-F5344CB8AC3E}">
        <p14:creationId xmlns:p14="http://schemas.microsoft.com/office/powerpoint/2010/main" val="317684921"/>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CF48E-A47F-57CD-DCD1-BA84E0E53BC4}"/>
              </a:ext>
            </a:extLst>
          </p:cNvPr>
          <p:cNvSpPr>
            <a:spLocks noGrp="1"/>
          </p:cNvSpPr>
          <p:nvPr>
            <p:ph type="ctrTitle"/>
          </p:nvPr>
        </p:nvSpPr>
        <p:spPr/>
        <p:txBody>
          <a:bodyPr>
            <a:normAutofit fontScale="90000"/>
          </a:bodyPr>
          <a:lstStyle/>
          <a:p>
            <a:r>
              <a:rPr lang="es-ES" dirty="0"/>
              <a:t>Diagrama de Secuencia: Líneas de vida, Mensajes y Retornos.</a:t>
            </a:r>
            <a:endParaRPr lang="es-SV" dirty="0"/>
          </a:p>
        </p:txBody>
      </p:sp>
      <p:sp>
        <p:nvSpPr>
          <p:cNvPr id="3" name="Subtítulo 2">
            <a:extLst>
              <a:ext uri="{FF2B5EF4-FFF2-40B4-BE49-F238E27FC236}">
                <a16:creationId xmlns:a16="http://schemas.microsoft.com/office/drawing/2014/main" id="{59570A72-45B6-4980-8E91-33703AC81CEC}"/>
              </a:ext>
            </a:extLst>
          </p:cNvPr>
          <p:cNvSpPr>
            <a:spLocks noGrp="1"/>
          </p:cNvSpPr>
          <p:nvPr>
            <p:ph type="subTitle" idx="1"/>
          </p:nvPr>
        </p:nvSpPr>
        <p:spPr/>
        <p:txBody>
          <a:bodyPr/>
          <a:lstStyle/>
          <a:p>
            <a:endParaRPr lang="es-SV"/>
          </a:p>
        </p:txBody>
      </p:sp>
    </p:spTree>
    <p:extLst>
      <p:ext uri="{BB962C8B-B14F-4D97-AF65-F5344CB8AC3E}">
        <p14:creationId xmlns:p14="http://schemas.microsoft.com/office/powerpoint/2010/main" val="1717284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362BE-7E45-33DF-0C7A-66EF02CCA221}"/>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85853080-97C0-E300-B55B-B6B8C2EE66C5}"/>
              </a:ext>
            </a:extLst>
          </p:cNvPr>
          <p:cNvSpPr>
            <a:spLocks noGrp="1"/>
          </p:cNvSpPr>
          <p:nvPr>
            <p:ph idx="1"/>
          </p:nvPr>
        </p:nvSpPr>
        <p:spPr/>
        <p:txBody>
          <a:bodyPr/>
          <a:lstStyle/>
          <a:p>
            <a:pPr marL="0" indent="0">
              <a:buNone/>
            </a:pPr>
            <a:r>
              <a:rPr lang="es-SV" dirty="0"/>
              <a:t>definición</a:t>
            </a:r>
          </a:p>
          <a:p>
            <a:pPr marL="0" indent="0">
              <a:buNone/>
            </a:pPr>
            <a:r>
              <a:rPr lang="es-SV" dirty="0"/>
              <a:t>Un </a:t>
            </a:r>
            <a:r>
              <a:rPr lang="es-SV" b="1" dirty="0"/>
              <a:t>diagrama de secuencia</a:t>
            </a:r>
            <a:r>
              <a:rPr lang="es-SV" dirty="0"/>
              <a:t> es un tipo de diagrama de interacción utilizado en el </a:t>
            </a:r>
            <a:r>
              <a:rPr lang="es-SV" b="1" dirty="0"/>
              <a:t>Lenguaje Unificado de Modelado (UML)</a:t>
            </a:r>
            <a:r>
              <a:rPr lang="es-SV" dirty="0"/>
              <a:t>. Su principal objetivo es mostrar cómo los objetos interactúan entre sí en un sistema, describiendo el orden en que se envían los mensajes y cómo se llevan a cabo las operaciones. Estos diagramas son especialmente útiles para modelar el comportamiento dinámico de un sistema y para documentar procesos en el desarrollo de software.</a:t>
            </a:r>
          </a:p>
          <a:p>
            <a:endParaRPr lang="es-SV" dirty="0"/>
          </a:p>
        </p:txBody>
      </p:sp>
    </p:spTree>
    <p:extLst>
      <p:ext uri="{BB962C8B-B14F-4D97-AF65-F5344CB8AC3E}">
        <p14:creationId xmlns:p14="http://schemas.microsoft.com/office/powerpoint/2010/main" val="41673858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DAC9AD-D718-4C2B-CBD0-235912F9241B}"/>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1A5F4F44-2530-9E0E-86C8-84AF5EC9B2E1}"/>
              </a:ext>
            </a:extLst>
          </p:cNvPr>
          <p:cNvSpPr>
            <a:spLocks noGrp="1"/>
          </p:cNvSpPr>
          <p:nvPr>
            <p:ph idx="1"/>
          </p:nvPr>
        </p:nvSpPr>
        <p:spPr/>
        <p:txBody>
          <a:bodyPr/>
          <a:lstStyle/>
          <a:p>
            <a:pPr marL="0" indent="0">
              <a:buNone/>
            </a:pPr>
            <a:r>
              <a:rPr lang="es-SV" b="1" dirty="0"/>
              <a:t>Componentes Clave</a:t>
            </a:r>
            <a:endParaRPr lang="es-SV" dirty="0"/>
          </a:p>
          <a:p>
            <a:pPr marL="0" indent="0">
              <a:buNone/>
            </a:pPr>
            <a:r>
              <a:rPr lang="es-SV" dirty="0"/>
              <a:t>Los diagramas de secuencia incluyen varios elementos importantes:</a:t>
            </a:r>
          </a:p>
          <a:p>
            <a:pPr marL="0" indent="0">
              <a:buNone/>
            </a:pPr>
            <a:r>
              <a:rPr lang="es-SV" b="1" dirty="0"/>
              <a:t>Líneas de vida</a:t>
            </a:r>
            <a:r>
              <a:rPr lang="es-SV" dirty="0"/>
              <a:t>: Representan los objetos o componentes que participan en la interacción. Se dibujan como líneas verticales con el nombre del objeto en la parte superior.</a:t>
            </a:r>
          </a:p>
          <a:p>
            <a:pPr marL="0" indent="0">
              <a:buNone/>
            </a:pPr>
            <a:r>
              <a:rPr lang="es-SV" b="1" dirty="0"/>
              <a:t>Mensajes</a:t>
            </a:r>
            <a:r>
              <a:rPr lang="es-SV" dirty="0"/>
              <a:t>: Flechas horizontales que indican el intercambio de información entre los objetos. Pueden ser síncronos (bloqueantes) o asíncronos (no bloqueantes) y suelen tener etiquetas que describen la acción realizada.</a:t>
            </a:r>
          </a:p>
          <a:p>
            <a:endParaRPr lang="es-SV" dirty="0"/>
          </a:p>
        </p:txBody>
      </p:sp>
    </p:spTree>
    <p:extLst>
      <p:ext uri="{BB962C8B-B14F-4D97-AF65-F5344CB8AC3E}">
        <p14:creationId xmlns:p14="http://schemas.microsoft.com/office/powerpoint/2010/main" val="409764582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4435E-1A6F-C8D2-BEAE-9E586B8B2141}"/>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84135E09-086E-1B2A-D2B0-44CD9F4658BE}"/>
              </a:ext>
            </a:extLst>
          </p:cNvPr>
          <p:cNvSpPr>
            <a:spLocks noGrp="1"/>
          </p:cNvSpPr>
          <p:nvPr>
            <p:ph idx="1"/>
          </p:nvPr>
        </p:nvSpPr>
        <p:spPr/>
        <p:txBody>
          <a:bodyPr/>
          <a:lstStyle/>
          <a:p>
            <a:pPr marL="0" indent="0">
              <a:buNone/>
            </a:pPr>
            <a:r>
              <a:rPr lang="es-SV" b="1" dirty="0"/>
              <a:t>Barras de activación</a:t>
            </a:r>
            <a:r>
              <a:rPr lang="es-SV" dirty="0"/>
              <a:t>: Muestran el período durante el cual un objeto está activo y procesando un mensaje, representadas como rectángulos en la línea de vida. </a:t>
            </a:r>
          </a:p>
          <a:p>
            <a:pPr marL="0" indent="0">
              <a:buNone/>
            </a:pPr>
            <a:r>
              <a:rPr lang="es-SV" b="1" dirty="0"/>
              <a:t>Mensajes de retorno</a:t>
            </a:r>
            <a:r>
              <a:rPr lang="es-SV" dirty="0"/>
              <a:t>: Indican la respuesta de un objeto a un mensaje recibido.</a:t>
            </a:r>
          </a:p>
          <a:p>
            <a:pPr marL="0" indent="0">
              <a:buNone/>
            </a:pPr>
            <a:r>
              <a:rPr lang="es-SV" b="1" dirty="0"/>
              <a:t>Utilidad en el Desarrollo de Software</a:t>
            </a:r>
            <a:endParaRPr lang="es-SV" dirty="0"/>
          </a:p>
          <a:p>
            <a:pPr marL="0" indent="0">
              <a:buNone/>
            </a:pPr>
            <a:r>
              <a:rPr lang="es-SV" dirty="0"/>
              <a:t>Los diagramas de secuencia son herramientas valiosas en el diseño y la documentación de sistemas, ya que:</a:t>
            </a:r>
          </a:p>
          <a:p>
            <a:pPr marL="0" indent="0">
              <a:buNone/>
            </a:pPr>
            <a:endParaRPr lang="es-SV" dirty="0"/>
          </a:p>
        </p:txBody>
      </p:sp>
    </p:spTree>
    <p:extLst>
      <p:ext uri="{BB962C8B-B14F-4D97-AF65-F5344CB8AC3E}">
        <p14:creationId xmlns:p14="http://schemas.microsoft.com/office/powerpoint/2010/main" val="30002279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531CA7-4457-D084-E861-48AFC4D1BFC9}"/>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012C1148-3CB1-22EB-AEDB-E3D463DCF96A}"/>
              </a:ext>
            </a:extLst>
          </p:cNvPr>
          <p:cNvSpPr>
            <a:spLocks noGrp="1"/>
          </p:cNvSpPr>
          <p:nvPr>
            <p:ph idx="1"/>
          </p:nvPr>
        </p:nvSpPr>
        <p:spPr/>
        <p:txBody>
          <a:bodyPr>
            <a:normAutofit lnSpcReduction="10000"/>
          </a:bodyPr>
          <a:lstStyle/>
          <a:p>
            <a:pPr marL="0" indent="0">
              <a:buNone/>
            </a:pPr>
            <a:r>
              <a:rPr lang="es-SV" b="1" dirty="0"/>
              <a:t>Facilitan la comprensión</a:t>
            </a:r>
            <a:r>
              <a:rPr lang="es-SV" dirty="0"/>
              <a:t>: Proporcionan una representación visual clara de cómo los objetos interactúan, lo que ayuda a los desarrolladores y a los interesados a entender el flujo de información en el sistema.</a:t>
            </a:r>
          </a:p>
          <a:p>
            <a:pPr marL="0" indent="0">
              <a:buNone/>
            </a:pPr>
            <a:r>
              <a:rPr lang="es-SV" b="1" dirty="0"/>
              <a:t>Mejoran la colaboración</a:t>
            </a:r>
            <a:r>
              <a:rPr lang="es-SV" dirty="0"/>
              <a:t>: Actúan como un manual visual que asegura que todos los involucrados tengan un entendimiento compartido del comportamiento del sistema. </a:t>
            </a:r>
          </a:p>
          <a:p>
            <a:pPr marL="0" indent="0">
              <a:buNone/>
            </a:pPr>
            <a:r>
              <a:rPr lang="es-SV" b="1" dirty="0"/>
              <a:t>Documentan procesos</a:t>
            </a:r>
            <a:r>
              <a:rPr lang="es-SV" dirty="0"/>
              <a:t>: Son útiles para documentar casos de uso y para modelar la lógica de operaciones complejas, lo que puede ser beneficioso en la planificación y el desarrollo de software. </a:t>
            </a:r>
          </a:p>
          <a:p>
            <a:endParaRPr lang="es-SV" dirty="0"/>
          </a:p>
        </p:txBody>
      </p:sp>
    </p:spTree>
    <p:extLst>
      <p:ext uri="{BB962C8B-B14F-4D97-AF65-F5344CB8AC3E}">
        <p14:creationId xmlns:p14="http://schemas.microsoft.com/office/powerpoint/2010/main" val="206118611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3">
                                            <p:txEl>
                                              <p:pRg st="1" end="1"/>
                                            </p:txEl>
                                          </p:spTgt>
                                        </p:tgtEl>
                                      </p:cBhvr>
                                    </p:animEffect>
                                    <p:set>
                                      <p:cBhvr>
                                        <p:cTn id="12"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3">
                                            <p:txEl>
                                              <p:pRg st="2" end="2"/>
                                            </p:txEl>
                                          </p:spTgt>
                                        </p:tgtEl>
                                      </p:cBhvr>
                                    </p:animEffect>
                                    <p:set>
                                      <p:cBhvr>
                                        <p:cTn id="17"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3DAC2C-95F2-555B-6F5C-B1D454DF9B55}"/>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B9A0B5D2-A0B0-2540-4C85-D75E2F01BD37}"/>
              </a:ext>
            </a:extLst>
          </p:cNvPr>
          <p:cNvSpPr>
            <a:spLocks noGrp="1"/>
          </p:cNvSpPr>
          <p:nvPr>
            <p:ph idx="1"/>
          </p:nvPr>
        </p:nvSpPr>
        <p:spPr/>
        <p:txBody>
          <a:bodyPr/>
          <a:lstStyle/>
          <a:p>
            <a:r>
              <a:rPr lang="es-SV" dirty="0"/>
              <a:t>En resumen, los diagramas de secuencia son herramientas esenciales en la ingeniería de software que permiten visualizar y comprender las interacciones entre objetos en un sistema, facilitando así el desarrollo y la documentación de software.</a:t>
            </a:r>
          </a:p>
        </p:txBody>
      </p:sp>
    </p:spTree>
    <p:extLst>
      <p:ext uri="{BB962C8B-B14F-4D97-AF65-F5344CB8AC3E}">
        <p14:creationId xmlns:p14="http://schemas.microsoft.com/office/powerpoint/2010/main" val="201811756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E31096-BBE4-5AA4-872E-63FAFD83F0B9}"/>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446C51DE-4AFC-333F-5F5B-317B208C3679}"/>
              </a:ext>
            </a:extLst>
          </p:cNvPr>
          <p:cNvSpPr>
            <a:spLocks noGrp="1"/>
          </p:cNvSpPr>
          <p:nvPr>
            <p:ph idx="1"/>
          </p:nvPr>
        </p:nvSpPr>
        <p:spPr/>
        <p:txBody>
          <a:bodyPr/>
          <a:lstStyle/>
          <a:p>
            <a:pPr marL="0" indent="0">
              <a:buNone/>
            </a:pPr>
            <a:r>
              <a:rPr lang="es-SV" dirty="0"/>
              <a:t>características</a:t>
            </a:r>
          </a:p>
          <a:p>
            <a:pPr marL="0" indent="0">
              <a:buNone/>
            </a:pPr>
            <a:r>
              <a:rPr lang="es-SV" dirty="0"/>
              <a:t>Los </a:t>
            </a:r>
            <a:r>
              <a:rPr lang="es-SV" b="1" dirty="0"/>
              <a:t>diagramas de secuencia</a:t>
            </a:r>
            <a:r>
              <a:rPr lang="es-SV" dirty="0"/>
              <a:t> son un tipo de diagrama de interacción en el Lenguaje Unificado de Modelado (UML) que ilustran cómo los objetos de un sistema se comunican mediante una secuencia temporal de mensajes. Cada diagrama representa una instancia específica del flujo de mensajes en respuesta a un evento particular, desglosando el flujo de trabajo en pasos claros y estructurados. </a:t>
            </a:r>
          </a:p>
          <a:p>
            <a:pPr marL="0" indent="0">
              <a:buNone/>
            </a:pPr>
            <a:endParaRPr lang="es-SV" dirty="0"/>
          </a:p>
          <a:p>
            <a:endParaRPr lang="es-SV" dirty="0"/>
          </a:p>
        </p:txBody>
      </p:sp>
    </p:spTree>
    <p:extLst>
      <p:ext uri="{BB962C8B-B14F-4D97-AF65-F5344CB8AC3E}">
        <p14:creationId xmlns:p14="http://schemas.microsoft.com/office/powerpoint/2010/main" val="33638708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447E2C-B6CB-E57D-F21E-0EB935655EEA}"/>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AF99A388-63F6-5979-C680-AB79C2315F3A}"/>
              </a:ext>
            </a:extLst>
          </p:cNvPr>
          <p:cNvSpPr>
            <a:spLocks noGrp="1"/>
          </p:cNvSpPr>
          <p:nvPr>
            <p:ph idx="1"/>
          </p:nvPr>
        </p:nvSpPr>
        <p:spPr/>
        <p:txBody>
          <a:bodyPr/>
          <a:lstStyle/>
          <a:p>
            <a:pPr marL="0" indent="0">
              <a:buNone/>
            </a:pPr>
            <a:r>
              <a:rPr lang="es-SV" b="1" dirty="0"/>
              <a:t>Propiedades y Elementos Clave</a:t>
            </a:r>
            <a:endParaRPr lang="es-SV" dirty="0"/>
          </a:p>
          <a:p>
            <a:pPr marL="0" indent="0">
              <a:buNone/>
            </a:pPr>
            <a:r>
              <a:rPr lang="es-SV" b="1" dirty="0"/>
              <a:t>1.Línea de Vida</a:t>
            </a:r>
            <a:r>
              <a:rPr lang="es-SV" dirty="0"/>
              <a:t>: Representa la existencia de un objeto desde su creación hasta su destrucción durante la interacción. Se muestra como una línea vertical que desciende desde el objeto. </a:t>
            </a:r>
          </a:p>
          <a:p>
            <a:pPr marL="0" indent="0">
              <a:buNone/>
            </a:pPr>
            <a:r>
              <a:rPr lang="es-SV" dirty="0"/>
              <a:t>2.</a:t>
            </a:r>
            <a:r>
              <a:rPr lang="es-SV" b="1" dirty="0"/>
              <a:t>Mensajes</a:t>
            </a:r>
            <a:r>
              <a:rPr lang="es-SV" dirty="0"/>
              <a:t>: Indican la comunicación entre objetos. Pueden ser de tipo </a:t>
            </a:r>
            <a:r>
              <a:rPr lang="es-SV" b="1" dirty="0"/>
              <a:t>síncrono</a:t>
            </a:r>
            <a:r>
              <a:rPr lang="es-SV" dirty="0"/>
              <a:t> (requieren una respuesta inmediata) o </a:t>
            </a:r>
            <a:r>
              <a:rPr lang="es-SV" b="1" dirty="0"/>
              <a:t>asíncrono</a:t>
            </a:r>
            <a:r>
              <a:rPr lang="es-SV" dirty="0"/>
              <a:t> (no requieren respuesta inmediata).</a:t>
            </a:r>
          </a:p>
          <a:p>
            <a:pPr marL="0" indent="0">
              <a:buNone/>
            </a:pPr>
            <a:endParaRPr lang="es-SV" dirty="0"/>
          </a:p>
          <a:p>
            <a:endParaRPr lang="es-SV" dirty="0"/>
          </a:p>
        </p:txBody>
      </p:sp>
    </p:spTree>
    <p:extLst>
      <p:ext uri="{BB962C8B-B14F-4D97-AF65-F5344CB8AC3E}">
        <p14:creationId xmlns:p14="http://schemas.microsoft.com/office/powerpoint/2010/main" val="15448277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7FC67D-7305-0C1A-406A-257B7557640D}"/>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29089279-E503-7531-4C2A-223D5E3BF32F}"/>
              </a:ext>
            </a:extLst>
          </p:cNvPr>
          <p:cNvSpPr>
            <a:spLocks noGrp="1"/>
          </p:cNvSpPr>
          <p:nvPr>
            <p:ph idx="1"/>
          </p:nvPr>
        </p:nvSpPr>
        <p:spPr/>
        <p:txBody>
          <a:bodyPr/>
          <a:lstStyle/>
          <a:p>
            <a:pPr marL="0" indent="0">
              <a:buNone/>
            </a:pPr>
            <a:r>
              <a:rPr lang="es-SV" dirty="0"/>
              <a:t>3.</a:t>
            </a:r>
            <a:r>
              <a:rPr lang="es-SV" b="1" dirty="0"/>
              <a:t>Activación</a:t>
            </a:r>
            <a:r>
              <a:rPr lang="es-SV" dirty="0"/>
              <a:t>: Representa el período durante el cual un objeto está activo y realiza una acción en respuesta a un mensaje. Se muestra como un rectángulo estrecho en la línea de vida del objeto. </a:t>
            </a:r>
          </a:p>
          <a:p>
            <a:pPr marL="0" indent="0">
              <a:buNone/>
            </a:pPr>
            <a:r>
              <a:rPr lang="es-SV" dirty="0"/>
              <a:t>4.</a:t>
            </a:r>
            <a:r>
              <a:rPr lang="es-SV" b="1" dirty="0"/>
              <a:t>Banda de Actores o Roles</a:t>
            </a:r>
            <a:r>
              <a:rPr lang="es-SV" dirty="0"/>
              <a:t>: Cada actor u objeto tiene su propio carril en el diagrama, lo que muestra claramente su rol en la secuencia de eventos. </a:t>
            </a:r>
          </a:p>
          <a:p>
            <a:pPr marL="0" indent="0">
              <a:buNone/>
            </a:pPr>
            <a:r>
              <a:rPr lang="es-SV" dirty="0"/>
              <a:t>5.</a:t>
            </a:r>
            <a:r>
              <a:rPr lang="es-SV" b="1" dirty="0"/>
              <a:t>Componentes Opcionales</a:t>
            </a:r>
            <a:r>
              <a:rPr lang="es-SV" dirty="0"/>
              <a:t>: Se pueden incluir marcos condicionales y de bucle para ilustrar decisiones y repeticiones en la secuencia. </a:t>
            </a:r>
          </a:p>
          <a:p>
            <a:endParaRPr lang="es-SV" dirty="0"/>
          </a:p>
        </p:txBody>
      </p:sp>
    </p:spTree>
    <p:extLst>
      <p:ext uri="{BB962C8B-B14F-4D97-AF65-F5344CB8AC3E}">
        <p14:creationId xmlns:p14="http://schemas.microsoft.com/office/powerpoint/2010/main" val="82354990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mph" presetSubtype="0" fill="hold" grpId="0" nodeType="clickEffect">
                                  <p:stCondLst>
                                    <p:cond delay="0"/>
                                  </p:stCondLst>
                                  <p:childTnLst>
                                    <p:animClr clrSpc="hsl" dir="cw">
                                      <p:cBhvr override="childStyle">
                                        <p:cTn id="6" dur="500" fill="hold"/>
                                        <p:tgtEl>
                                          <p:spTgt spid="3">
                                            <p:txEl>
                                              <p:pRg st="0" end="0"/>
                                            </p:txEl>
                                          </p:spTgt>
                                        </p:tgtEl>
                                        <p:attrNameLst>
                                          <p:attrName>style.color</p:attrName>
                                        </p:attrNameLst>
                                      </p:cBhvr>
                                      <p:by>
                                        <p:hsl h="0" s="-70588" l="0"/>
                                      </p:by>
                                    </p:animClr>
                                    <p:animClr clrSpc="hsl" dir="cw">
                                      <p:cBhvr>
                                        <p:cTn id="7" dur="500" fill="hold"/>
                                        <p:tgtEl>
                                          <p:spTgt spid="3">
                                            <p:txEl>
                                              <p:pRg st="0" end="0"/>
                                            </p:txEl>
                                          </p:spTgt>
                                        </p:tgtEl>
                                        <p:attrNameLst>
                                          <p:attrName>fillcolor</p:attrName>
                                        </p:attrNameLst>
                                      </p:cBhvr>
                                      <p:by>
                                        <p:hsl h="0" s="-70588" l="0"/>
                                      </p:by>
                                    </p:animClr>
                                    <p:animClr clrSpc="hsl" dir="cw">
                                      <p:cBhvr>
                                        <p:cTn id="8" dur="500" fill="hold"/>
                                        <p:tgtEl>
                                          <p:spTgt spid="3">
                                            <p:txEl>
                                              <p:pRg st="0" end="0"/>
                                            </p:txEl>
                                          </p:spTgt>
                                        </p:tgtEl>
                                        <p:attrNameLst>
                                          <p:attrName>stroke.color</p:attrName>
                                        </p:attrNameLst>
                                      </p:cBhvr>
                                      <p:by>
                                        <p:hsl h="0" s="-70588" l="0"/>
                                      </p:by>
                                    </p:animClr>
                                    <p:set>
                                      <p:cBhvr>
                                        <p:cTn id="9" dur="500" fill="hold"/>
                                        <p:tgtEl>
                                          <p:spTgt spid="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5" presetClass="emph" presetSubtype="0" fill="hold" grpId="0" nodeType="clickEffect">
                                  <p:stCondLst>
                                    <p:cond delay="0"/>
                                  </p:stCondLst>
                                  <p:childTnLst>
                                    <p:animClr clrSpc="hsl" dir="cw">
                                      <p:cBhvr override="childStyle">
                                        <p:cTn id="13" dur="500" fill="hold"/>
                                        <p:tgtEl>
                                          <p:spTgt spid="3">
                                            <p:txEl>
                                              <p:pRg st="1" end="1"/>
                                            </p:txEl>
                                          </p:spTgt>
                                        </p:tgtEl>
                                        <p:attrNameLst>
                                          <p:attrName>style.color</p:attrName>
                                        </p:attrNameLst>
                                      </p:cBhvr>
                                      <p:by>
                                        <p:hsl h="0" s="-70588" l="0"/>
                                      </p:by>
                                    </p:animClr>
                                    <p:animClr clrSpc="hsl" dir="cw">
                                      <p:cBhvr>
                                        <p:cTn id="14" dur="500" fill="hold"/>
                                        <p:tgtEl>
                                          <p:spTgt spid="3">
                                            <p:txEl>
                                              <p:pRg st="1" end="1"/>
                                            </p:txEl>
                                          </p:spTgt>
                                        </p:tgtEl>
                                        <p:attrNameLst>
                                          <p:attrName>fillcolor</p:attrName>
                                        </p:attrNameLst>
                                      </p:cBhvr>
                                      <p:by>
                                        <p:hsl h="0" s="-70588" l="0"/>
                                      </p:by>
                                    </p:animClr>
                                    <p:animClr clrSpc="hsl" dir="cw">
                                      <p:cBhvr>
                                        <p:cTn id="15" dur="500" fill="hold"/>
                                        <p:tgtEl>
                                          <p:spTgt spid="3">
                                            <p:txEl>
                                              <p:pRg st="1" end="1"/>
                                            </p:txEl>
                                          </p:spTgt>
                                        </p:tgtEl>
                                        <p:attrNameLst>
                                          <p:attrName>stroke.color</p:attrName>
                                        </p:attrNameLst>
                                      </p:cBhvr>
                                      <p:by>
                                        <p:hsl h="0" s="-70588" l="0"/>
                                      </p:by>
                                    </p:animClr>
                                    <p:set>
                                      <p:cBhvr>
                                        <p:cTn id="16" dur="500" fill="hold"/>
                                        <p:tgtEl>
                                          <p:spTgt spid="3">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5" presetClass="emph" presetSubtype="0" fill="hold" grpId="0" nodeType="clickEffect">
                                  <p:stCondLst>
                                    <p:cond delay="0"/>
                                  </p:stCondLst>
                                  <p:childTnLst>
                                    <p:animClr clrSpc="hsl" dir="cw">
                                      <p:cBhvr override="childStyle">
                                        <p:cTn id="20" dur="500" fill="hold"/>
                                        <p:tgtEl>
                                          <p:spTgt spid="3">
                                            <p:txEl>
                                              <p:pRg st="2" end="2"/>
                                            </p:txEl>
                                          </p:spTgt>
                                        </p:tgtEl>
                                        <p:attrNameLst>
                                          <p:attrName>style.color</p:attrName>
                                        </p:attrNameLst>
                                      </p:cBhvr>
                                      <p:by>
                                        <p:hsl h="0" s="-70588" l="0"/>
                                      </p:by>
                                    </p:animClr>
                                    <p:animClr clrSpc="hsl" dir="cw">
                                      <p:cBhvr>
                                        <p:cTn id="21" dur="500" fill="hold"/>
                                        <p:tgtEl>
                                          <p:spTgt spid="3">
                                            <p:txEl>
                                              <p:pRg st="2" end="2"/>
                                            </p:txEl>
                                          </p:spTgt>
                                        </p:tgtEl>
                                        <p:attrNameLst>
                                          <p:attrName>fillcolor</p:attrName>
                                        </p:attrNameLst>
                                      </p:cBhvr>
                                      <p:by>
                                        <p:hsl h="0" s="-70588" l="0"/>
                                      </p:by>
                                    </p:animClr>
                                    <p:animClr clrSpc="hsl" dir="cw">
                                      <p:cBhvr>
                                        <p:cTn id="22" dur="500" fill="hold"/>
                                        <p:tgtEl>
                                          <p:spTgt spid="3">
                                            <p:txEl>
                                              <p:pRg st="2" end="2"/>
                                            </p:txEl>
                                          </p:spTgt>
                                        </p:tgtEl>
                                        <p:attrNameLst>
                                          <p:attrName>stroke.color</p:attrName>
                                        </p:attrNameLst>
                                      </p:cBhvr>
                                      <p:by>
                                        <p:hsl h="0" s="-70588" l="0"/>
                                      </p:by>
                                    </p:animClr>
                                    <p:set>
                                      <p:cBhvr>
                                        <p:cTn id="23"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57476E-37BC-EECA-6B79-8698C96C2FC0}"/>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A3A6C427-10FE-CA3D-2703-4F32D41A902B}"/>
              </a:ext>
            </a:extLst>
          </p:cNvPr>
          <p:cNvSpPr>
            <a:spLocks noGrp="1"/>
          </p:cNvSpPr>
          <p:nvPr>
            <p:ph idx="1"/>
          </p:nvPr>
        </p:nvSpPr>
        <p:spPr/>
        <p:txBody>
          <a:bodyPr/>
          <a:lstStyle/>
          <a:p>
            <a:pPr marL="0" indent="0">
              <a:buNone/>
            </a:pPr>
            <a:r>
              <a:rPr lang="es-SV" b="1" dirty="0"/>
              <a:t>Notación</a:t>
            </a:r>
            <a:endParaRPr lang="es-SV" dirty="0"/>
          </a:p>
          <a:p>
            <a:pPr marL="0" indent="0">
              <a:buNone/>
            </a:pPr>
            <a:r>
              <a:rPr lang="es-SV" b="1" dirty="0"/>
              <a:t>Principales elementos </a:t>
            </a:r>
            <a:endParaRPr lang="es-SV" dirty="0"/>
          </a:p>
          <a:p>
            <a:pPr marL="0" indent="0">
              <a:buNone/>
            </a:pPr>
            <a:r>
              <a:rPr lang="es-SV" b="1" dirty="0"/>
              <a:t>Actores y Objetos</a:t>
            </a:r>
            <a:r>
              <a:rPr lang="es-SV" dirty="0"/>
              <a:t>: Representados por rectángulos o iconos específicos. Cada actor es el origen o destino de un mensaje en el diagrama.</a:t>
            </a:r>
          </a:p>
          <a:p>
            <a:pPr marL="0" indent="0">
              <a:buNone/>
            </a:pPr>
            <a:r>
              <a:rPr lang="es-SV" b="1" dirty="0"/>
              <a:t>Flechas</a:t>
            </a:r>
            <a:r>
              <a:rPr lang="es-SV" dirty="0"/>
              <a:t>: Indican el tipo de mensaje enviado entre objetos. Las flechas continuas representan mensajes síncronos, mientras que las flechas discontinuas representan mensajes asíncronos.</a:t>
            </a:r>
          </a:p>
          <a:p>
            <a:endParaRPr lang="es-SV" dirty="0"/>
          </a:p>
        </p:txBody>
      </p:sp>
    </p:spTree>
    <p:extLst>
      <p:ext uri="{BB962C8B-B14F-4D97-AF65-F5344CB8AC3E}">
        <p14:creationId xmlns:p14="http://schemas.microsoft.com/office/powerpoint/2010/main" val="79485785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5CF55C-53B6-DED3-9E50-9D69C4EACF5F}"/>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91EB4F04-6F65-0B42-B459-CFFCDBF1D878}"/>
              </a:ext>
            </a:extLst>
          </p:cNvPr>
          <p:cNvSpPr>
            <a:spLocks noGrp="1"/>
          </p:cNvSpPr>
          <p:nvPr>
            <p:ph idx="1"/>
          </p:nvPr>
        </p:nvSpPr>
        <p:spPr/>
        <p:txBody>
          <a:bodyPr/>
          <a:lstStyle/>
          <a:p>
            <a:pPr marL="0" indent="0">
              <a:buNone/>
            </a:pPr>
            <a:r>
              <a:rPr lang="es-SV" b="1" dirty="0"/>
              <a:t>Cuadros de Activación</a:t>
            </a:r>
            <a:r>
              <a:rPr lang="es-SV" dirty="0"/>
              <a:t>: Indican cuándo un objeto está activo realizando una acción.</a:t>
            </a:r>
          </a:p>
          <a:p>
            <a:pPr marL="0" indent="0">
              <a:buNone/>
            </a:pPr>
            <a:r>
              <a:rPr lang="es-SV" b="1" dirty="0"/>
              <a:t>Usos</a:t>
            </a:r>
            <a:endParaRPr lang="es-SV" dirty="0"/>
          </a:p>
          <a:p>
            <a:pPr marL="0" indent="0">
              <a:buNone/>
            </a:pPr>
            <a:r>
              <a:rPr lang="es-SV" dirty="0"/>
              <a:t>Los diagramas de secuencia son ampliamente utilizados para:</a:t>
            </a:r>
          </a:p>
          <a:p>
            <a:pPr marL="0" indent="0">
              <a:buNone/>
            </a:pPr>
            <a:r>
              <a:rPr lang="es-SV" dirty="0"/>
              <a:t>Visualizar casos de uso complejos.</a:t>
            </a:r>
          </a:p>
          <a:p>
            <a:pPr marL="0" indent="0">
              <a:buNone/>
            </a:pPr>
            <a:r>
              <a:rPr lang="es-SV" dirty="0"/>
              <a:t>Documentar procesos existentes o nuevos sistemas.</a:t>
            </a:r>
          </a:p>
          <a:p>
            <a:endParaRPr lang="es-SV" dirty="0"/>
          </a:p>
        </p:txBody>
      </p:sp>
    </p:spTree>
    <p:extLst>
      <p:ext uri="{BB962C8B-B14F-4D97-AF65-F5344CB8AC3E}">
        <p14:creationId xmlns:p14="http://schemas.microsoft.com/office/powerpoint/2010/main" val="417485981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3">
                                            <p:txEl>
                                              <p:pRg st="0" end="0"/>
                                            </p:txEl>
                                          </p:spTgt>
                                        </p:tgtEl>
                                        <p:attrNameLst>
                                          <p:attrName>ppt_x</p:attrName>
                                          <p:attrName>ppt_y</p:attrName>
                                        </p:attrNameLst>
                                      </p:cBhvr>
                                    </p:animMotion>
                                    <p:animRot by="1500000">
                                      <p:cBhvr>
                                        <p:cTn id="7" dur="125" fill="hold">
                                          <p:stCondLst>
                                            <p:cond delay="0"/>
                                          </p:stCondLst>
                                        </p:cTn>
                                        <p:tgtEl>
                                          <p:spTgt spid="3">
                                            <p:txEl>
                                              <p:pRg st="0" end="0"/>
                                            </p:txEl>
                                          </p:spTgt>
                                        </p:tgtEl>
                                        <p:attrNameLst>
                                          <p:attrName>r</p:attrName>
                                        </p:attrNameLst>
                                      </p:cBhvr>
                                    </p:animRot>
                                    <p:animRot by="-1500000">
                                      <p:cBhvr>
                                        <p:cTn id="8" dur="125" fill="hold">
                                          <p:stCondLst>
                                            <p:cond delay="125"/>
                                          </p:stCondLst>
                                        </p:cTn>
                                        <p:tgtEl>
                                          <p:spTgt spid="3">
                                            <p:txEl>
                                              <p:pRg st="0" end="0"/>
                                            </p:txEl>
                                          </p:spTgt>
                                        </p:tgtEl>
                                        <p:attrNameLst>
                                          <p:attrName>r</p:attrName>
                                        </p:attrNameLst>
                                      </p:cBhvr>
                                    </p:animRot>
                                    <p:animRot by="-1500000">
                                      <p:cBhvr>
                                        <p:cTn id="9" dur="125" fill="hold">
                                          <p:stCondLst>
                                            <p:cond delay="250"/>
                                          </p:stCondLst>
                                        </p:cTn>
                                        <p:tgtEl>
                                          <p:spTgt spid="3">
                                            <p:txEl>
                                              <p:pRg st="0" end="0"/>
                                            </p:txEl>
                                          </p:spTgt>
                                        </p:tgtEl>
                                        <p:attrNameLst>
                                          <p:attrName>r</p:attrName>
                                        </p:attrNameLst>
                                      </p:cBhvr>
                                    </p:animRot>
                                    <p:animRot by="1500000">
                                      <p:cBhvr>
                                        <p:cTn id="10" dur="125" fill="hold">
                                          <p:stCondLst>
                                            <p:cond delay="375"/>
                                          </p:stCondLst>
                                        </p:cTn>
                                        <p:tgtEl>
                                          <p:spTgt spid="3">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4" presetClass="emph" presetSubtype="0" fill="hold" grpId="0" nodeType="clickEffect">
                                  <p:stCondLst>
                                    <p:cond delay="0"/>
                                  </p:stCondLst>
                                  <p:iterate type="lt">
                                    <p:tmPct val="10000"/>
                                  </p:iterate>
                                  <p:childTnLst>
                                    <p:animMotion origin="layout" path="M 0.0 0.0 L 0.0 -0.07213" pathEditMode="relative" ptsTypes="">
                                      <p:cBhvr>
                                        <p:cTn id="14" dur="250" accel="50000" decel="50000" autoRev="1" fill="hold">
                                          <p:stCondLst>
                                            <p:cond delay="0"/>
                                          </p:stCondLst>
                                        </p:cTn>
                                        <p:tgtEl>
                                          <p:spTgt spid="3">
                                            <p:txEl>
                                              <p:pRg st="1" end="1"/>
                                            </p:txEl>
                                          </p:spTgt>
                                        </p:tgtEl>
                                        <p:attrNameLst>
                                          <p:attrName>ppt_x</p:attrName>
                                          <p:attrName>ppt_y</p:attrName>
                                        </p:attrNameLst>
                                      </p:cBhvr>
                                    </p:animMotion>
                                    <p:animRot by="1500000">
                                      <p:cBhvr>
                                        <p:cTn id="15" dur="125" fill="hold">
                                          <p:stCondLst>
                                            <p:cond delay="0"/>
                                          </p:stCondLst>
                                        </p:cTn>
                                        <p:tgtEl>
                                          <p:spTgt spid="3">
                                            <p:txEl>
                                              <p:pRg st="1" end="1"/>
                                            </p:txEl>
                                          </p:spTgt>
                                        </p:tgtEl>
                                        <p:attrNameLst>
                                          <p:attrName>r</p:attrName>
                                        </p:attrNameLst>
                                      </p:cBhvr>
                                    </p:animRot>
                                    <p:animRot by="-1500000">
                                      <p:cBhvr>
                                        <p:cTn id="16" dur="125" fill="hold">
                                          <p:stCondLst>
                                            <p:cond delay="125"/>
                                          </p:stCondLst>
                                        </p:cTn>
                                        <p:tgtEl>
                                          <p:spTgt spid="3">
                                            <p:txEl>
                                              <p:pRg st="1" end="1"/>
                                            </p:txEl>
                                          </p:spTgt>
                                        </p:tgtEl>
                                        <p:attrNameLst>
                                          <p:attrName>r</p:attrName>
                                        </p:attrNameLst>
                                      </p:cBhvr>
                                    </p:animRot>
                                    <p:animRot by="-1500000">
                                      <p:cBhvr>
                                        <p:cTn id="17" dur="125" fill="hold">
                                          <p:stCondLst>
                                            <p:cond delay="250"/>
                                          </p:stCondLst>
                                        </p:cTn>
                                        <p:tgtEl>
                                          <p:spTgt spid="3">
                                            <p:txEl>
                                              <p:pRg st="1" end="1"/>
                                            </p:txEl>
                                          </p:spTgt>
                                        </p:tgtEl>
                                        <p:attrNameLst>
                                          <p:attrName>r</p:attrName>
                                        </p:attrNameLst>
                                      </p:cBhvr>
                                    </p:animRot>
                                    <p:animRot by="1500000">
                                      <p:cBhvr>
                                        <p:cTn id="18" dur="125" fill="hold">
                                          <p:stCondLst>
                                            <p:cond delay="375"/>
                                          </p:stCondLst>
                                        </p:cTn>
                                        <p:tgtEl>
                                          <p:spTgt spid="3">
                                            <p:txEl>
                                              <p:pRg st="1" end="1"/>
                                            </p:txEl>
                                          </p:spTgt>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34" presetClass="emph" presetSubtype="0" fill="hold" grpId="0" nodeType="clickEffect">
                                  <p:stCondLst>
                                    <p:cond delay="0"/>
                                  </p:stCondLst>
                                  <p:iterate type="lt">
                                    <p:tmPct val="10000"/>
                                  </p:iterate>
                                  <p:childTnLst>
                                    <p:animMotion origin="layout" path="M 0.0 0.0 L 0.0 -0.07213" pathEditMode="relative" ptsTypes="">
                                      <p:cBhvr>
                                        <p:cTn id="22" dur="250" accel="50000" decel="50000" autoRev="1" fill="hold">
                                          <p:stCondLst>
                                            <p:cond delay="0"/>
                                          </p:stCondLst>
                                        </p:cTn>
                                        <p:tgtEl>
                                          <p:spTgt spid="3">
                                            <p:txEl>
                                              <p:pRg st="2" end="2"/>
                                            </p:txEl>
                                          </p:spTgt>
                                        </p:tgtEl>
                                        <p:attrNameLst>
                                          <p:attrName>ppt_x</p:attrName>
                                          <p:attrName>ppt_y</p:attrName>
                                        </p:attrNameLst>
                                      </p:cBhvr>
                                    </p:animMotion>
                                    <p:animRot by="1500000">
                                      <p:cBhvr>
                                        <p:cTn id="23" dur="125" fill="hold">
                                          <p:stCondLst>
                                            <p:cond delay="0"/>
                                          </p:stCondLst>
                                        </p:cTn>
                                        <p:tgtEl>
                                          <p:spTgt spid="3">
                                            <p:txEl>
                                              <p:pRg st="2" end="2"/>
                                            </p:txEl>
                                          </p:spTgt>
                                        </p:tgtEl>
                                        <p:attrNameLst>
                                          <p:attrName>r</p:attrName>
                                        </p:attrNameLst>
                                      </p:cBhvr>
                                    </p:animRot>
                                    <p:animRot by="-1500000">
                                      <p:cBhvr>
                                        <p:cTn id="24" dur="125" fill="hold">
                                          <p:stCondLst>
                                            <p:cond delay="125"/>
                                          </p:stCondLst>
                                        </p:cTn>
                                        <p:tgtEl>
                                          <p:spTgt spid="3">
                                            <p:txEl>
                                              <p:pRg st="2" end="2"/>
                                            </p:txEl>
                                          </p:spTgt>
                                        </p:tgtEl>
                                        <p:attrNameLst>
                                          <p:attrName>r</p:attrName>
                                        </p:attrNameLst>
                                      </p:cBhvr>
                                    </p:animRot>
                                    <p:animRot by="-1500000">
                                      <p:cBhvr>
                                        <p:cTn id="25" dur="125" fill="hold">
                                          <p:stCondLst>
                                            <p:cond delay="250"/>
                                          </p:stCondLst>
                                        </p:cTn>
                                        <p:tgtEl>
                                          <p:spTgt spid="3">
                                            <p:txEl>
                                              <p:pRg st="2" end="2"/>
                                            </p:txEl>
                                          </p:spTgt>
                                        </p:tgtEl>
                                        <p:attrNameLst>
                                          <p:attrName>r</p:attrName>
                                        </p:attrNameLst>
                                      </p:cBhvr>
                                    </p:animRot>
                                    <p:animRot by="1500000">
                                      <p:cBhvr>
                                        <p:cTn id="26" dur="125" fill="hold">
                                          <p:stCondLst>
                                            <p:cond delay="375"/>
                                          </p:stCondLst>
                                        </p:cTn>
                                        <p:tgtEl>
                                          <p:spTgt spid="3">
                                            <p:txEl>
                                              <p:pRg st="2" end="2"/>
                                            </p:txEl>
                                          </p:spTgt>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34" presetClass="emph" presetSubtype="0" fill="hold" grpId="0" nodeType="clickEffect">
                                  <p:stCondLst>
                                    <p:cond delay="0"/>
                                  </p:stCondLst>
                                  <p:iterate type="lt">
                                    <p:tmPct val="10000"/>
                                  </p:iterate>
                                  <p:childTnLst>
                                    <p:animMotion origin="layout" path="M 0.0 0.0 L 0.0 -0.07213" pathEditMode="relative" ptsTypes="">
                                      <p:cBhvr>
                                        <p:cTn id="30" dur="250" accel="50000" decel="50000" autoRev="1" fill="hold">
                                          <p:stCondLst>
                                            <p:cond delay="0"/>
                                          </p:stCondLst>
                                        </p:cTn>
                                        <p:tgtEl>
                                          <p:spTgt spid="3">
                                            <p:txEl>
                                              <p:pRg st="3" end="3"/>
                                            </p:txEl>
                                          </p:spTgt>
                                        </p:tgtEl>
                                        <p:attrNameLst>
                                          <p:attrName>ppt_x</p:attrName>
                                          <p:attrName>ppt_y</p:attrName>
                                        </p:attrNameLst>
                                      </p:cBhvr>
                                    </p:animMotion>
                                    <p:animRot by="1500000">
                                      <p:cBhvr>
                                        <p:cTn id="31" dur="125" fill="hold">
                                          <p:stCondLst>
                                            <p:cond delay="0"/>
                                          </p:stCondLst>
                                        </p:cTn>
                                        <p:tgtEl>
                                          <p:spTgt spid="3">
                                            <p:txEl>
                                              <p:pRg st="3" end="3"/>
                                            </p:txEl>
                                          </p:spTgt>
                                        </p:tgtEl>
                                        <p:attrNameLst>
                                          <p:attrName>r</p:attrName>
                                        </p:attrNameLst>
                                      </p:cBhvr>
                                    </p:animRot>
                                    <p:animRot by="-1500000">
                                      <p:cBhvr>
                                        <p:cTn id="32" dur="125" fill="hold">
                                          <p:stCondLst>
                                            <p:cond delay="125"/>
                                          </p:stCondLst>
                                        </p:cTn>
                                        <p:tgtEl>
                                          <p:spTgt spid="3">
                                            <p:txEl>
                                              <p:pRg st="3" end="3"/>
                                            </p:txEl>
                                          </p:spTgt>
                                        </p:tgtEl>
                                        <p:attrNameLst>
                                          <p:attrName>r</p:attrName>
                                        </p:attrNameLst>
                                      </p:cBhvr>
                                    </p:animRot>
                                    <p:animRot by="-1500000">
                                      <p:cBhvr>
                                        <p:cTn id="33" dur="125" fill="hold">
                                          <p:stCondLst>
                                            <p:cond delay="250"/>
                                          </p:stCondLst>
                                        </p:cTn>
                                        <p:tgtEl>
                                          <p:spTgt spid="3">
                                            <p:txEl>
                                              <p:pRg st="3" end="3"/>
                                            </p:txEl>
                                          </p:spTgt>
                                        </p:tgtEl>
                                        <p:attrNameLst>
                                          <p:attrName>r</p:attrName>
                                        </p:attrNameLst>
                                      </p:cBhvr>
                                    </p:animRot>
                                    <p:animRot by="1500000">
                                      <p:cBhvr>
                                        <p:cTn id="34" dur="125" fill="hold">
                                          <p:stCondLst>
                                            <p:cond delay="375"/>
                                          </p:stCondLst>
                                        </p:cTn>
                                        <p:tgtEl>
                                          <p:spTgt spid="3">
                                            <p:txEl>
                                              <p:pRg st="3" end="3"/>
                                            </p:txEl>
                                          </p:spTgt>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34" presetClass="emph" presetSubtype="0" fill="hold" grpId="0" nodeType="clickEffect">
                                  <p:stCondLst>
                                    <p:cond delay="0"/>
                                  </p:stCondLst>
                                  <p:iterate type="lt">
                                    <p:tmPct val="10000"/>
                                  </p:iterate>
                                  <p:childTnLst>
                                    <p:animMotion origin="layout" path="M 0.0 0.0 L 0.0 -0.07213" pathEditMode="relative" ptsTypes="">
                                      <p:cBhvr>
                                        <p:cTn id="38" dur="250" accel="50000" decel="50000" autoRev="1" fill="hold">
                                          <p:stCondLst>
                                            <p:cond delay="0"/>
                                          </p:stCondLst>
                                        </p:cTn>
                                        <p:tgtEl>
                                          <p:spTgt spid="3">
                                            <p:txEl>
                                              <p:pRg st="4" end="4"/>
                                            </p:txEl>
                                          </p:spTgt>
                                        </p:tgtEl>
                                        <p:attrNameLst>
                                          <p:attrName>ppt_x</p:attrName>
                                          <p:attrName>ppt_y</p:attrName>
                                        </p:attrNameLst>
                                      </p:cBhvr>
                                    </p:animMotion>
                                    <p:animRot by="1500000">
                                      <p:cBhvr>
                                        <p:cTn id="39" dur="125" fill="hold">
                                          <p:stCondLst>
                                            <p:cond delay="0"/>
                                          </p:stCondLst>
                                        </p:cTn>
                                        <p:tgtEl>
                                          <p:spTgt spid="3">
                                            <p:txEl>
                                              <p:pRg st="4" end="4"/>
                                            </p:txEl>
                                          </p:spTgt>
                                        </p:tgtEl>
                                        <p:attrNameLst>
                                          <p:attrName>r</p:attrName>
                                        </p:attrNameLst>
                                      </p:cBhvr>
                                    </p:animRot>
                                    <p:animRot by="-1500000">
                                      <p:cBhvr>
                                        <p:cTn id="40" dur="125" fill="hold">
                                          <p:stCondLst>
                                            <p:cond delay="125"/>
                                          </p:stCondLst>
                                        </p:cTn>
                                        <p:tgtEl>
                                          <p:spTgt spid="3">
                                            <p:txEl>
                                              <p:pRg st="4" end="4"/>
                                            </p:txEl>
                                          </p:spTgt>
                                        </p:tgtEl>
                                        <p:attrNameLst>
                                          <p:attrName>r</p:attrName>
                                        </p:attrNameLst>
                                      </p:cBhvr>
                                    </p:animRot>
                                    <p:animRot by="-1500000">
                                      <p:cBhvr>
                                        <p:cTn id="41" dur="125" fill="hold">
                                          <p:stCondLst>
                                            <p:cond delay="250"/>
                                          </p:stCondLst>
                                        </p:cTn>
                                        <p:tgtEl>
                                          <p:spTgt spid="3">
                                            <p:txEl>
                                              <p:pRg st="4" end="4"/>
                                            </p:txEl>
                                          </p:spTgt>
                                        </p:tgtEl>
                                        <p:attrNameLst>
                                          <p:attrName>r</p:attrName>
                                        </p:attrNameLst>
                                      </p:cBhvr>
                                    </p:animRot>
                                    <p:animRot by="1500000">
                                      <p:cBhvr>
                                        <p:cTn id="42" dur="125" fill="hold">
                                          <p:stCondLst>
                                            <p:cond delay="375"/>
                                          </p:stCondLst>
                                        </p:cTn>
                                        <p:tgtEl>
                                          <p:spTgt spid="3">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6566CA-E659-55EE-5FCD-CA011CCBE64C}"/>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415C96E0-EA3F-409A-930B-B3694B43872C}"/>
              </a:ext>
            </a:extLst>
          </p:cNvPr>
          <p:cNvSpPr>
            <a:spLocks noGrp="1"/>
          </p:cNvSpPr>
          <p:nvPr>
            <p:ph idx="1"/>
          </p:nvPr>
        </p:nvSpPr>
        <p:spPr/>
        <p:txBody>
          <a:bodyPr/>
          <a:lstStyle/>
          <a:p>
            <a:pPr marL="0" indent="0">
              <a:buNone/>
            </a:pPr>
            <a:r>
              <a:rPr lang="es-SV" dirty="0"/>
              <a:t>Modelar la lógica de operaciones y funciones sofisticadas. </a:t>
            </a:r>
            <a:br>
              <a:rPr lang="es-SV" dirty="0"/>
            </a:br>
            <a:r>
              <a:rPr lang="es-SV" dirty="0"/>
              <a:t>Estos diagramas son herramientas valiosas para desarrolladores de software y analistas de negocios, ya que facilitan la comprensión de cómo interactúan los componentes de un sistema y cómo se ejecutan las funciones a lo largo del tiempo.</a:t>
            </a:r>
          </a:p>
          <a:p>
            <a:pPr marL="0" indent="0">
              <a:buNone/>
            </a:pPr>
            <a:r>
              <a:rPr lang="es-SV" b="1" dirty="0"/>
              <a:t>Principales Elementos</a:t>
            </a:r>
            <a:endParaRPr lang="es-SV" dirty="0"/>
          </a:p>
          <a:p>
            <a:pPr marL="0" indent="0">
              <a:buNone/>
            </a:pPr>
            <a:r>
              <a:rPr lang="es-SV" b="1" dirty="0"/>
              <a:t>Actor:</a:t>
            </a:r>
            <a:r>
              <a:rPr lang="es-SV" dirty="0"/>
              <a:t> Representa una entidad externa que interactúa con el sistema, como un usuario o un sistema externo, y se dibuja generalmente como un ícono de persona o figura simplificada.</a:t>
            </a:r>
          </a:p>
          <a:p>
            <a:pPr marL="0" indent="0">
              <a:buNone/>
            </a:pPr>
            <a:endParaRPr lang="es-SV" dirty="0"/>
          </a:p>
        </p:txBody>
      </p:sp>
    </p:spTree>
    <p:extLst>
      <p:ext uri="{BB962C8B-B14F-4D97-AF65-F5344CB8AC3E}">
        <p14:creationId xmlns:p14="http://schemas.microsoft.com/office/powerpoint/2010/main" val="2724411052"/>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grpId="0" nodeType="clickEffect">
                                  <p:stCondLst>
                                    <p:cond delay="0"/>
                                  </p:stCondLst>
                                  <p:childTnLst>
                                    <p:animEffect transition="out" filter="wheel(1)">
                                      <p:cBhvr>
                                        <p:cTn id="6" dur="2000"/>
                                        <p:tgtEl>
                                          <p:spTgt spid="3">
                                            <p:txEl>
                                              <p:pRg st="0" end="0"/>
                                            </p:txEl>
                                          </p:spTgt>
                                        </p:tgtEl>
                                      </p:cBhvr>
                                    </p:animEffect>
                                    <p:set>
                                      <p:cBhvr>
                                        <p:cTn id="7"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1" presetClass="exit" presetSubtype="1" fill="hold" grpId="0" nodeType="clickEffect">
                                  <p:stCondLst>
                                    <p:cond delay="0"/>
                                  </p:stCondLst>
                                  <p:childTnLst>
                                    <p:animEffect transition="out" filter="wheel(1)">
                                      <p:cBhvr>
                                        <p:cTn id="11" dur="2000"/>
                                        <p:tgtEl>
                                          <p:spTgt spid="3">
                                            <p:txEl>
                                              <p:pRg st="1" end="1"/>
                                            </p:txEl>
                                          </p:spTgt>
                                        </p:tgtEl>
                                      </p:cBhvr>
                                    </p:animEffect>
                                    <p:set>
                                      <p:cBhvr>
                                        <p:cTn id="12" dur="1" fill="hold">
                                          <p:stCondLst>
                                            <p:cond delay="1999"/>
                                          </p:stCondLst>
                                        </p:cTn>
                                        <p:tgtEl>
                                          <p:spTgt spid="3">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1" presetClass="exit" presetSubtype="1" fill="hold" grpId="0" nodeType="clickEffect">
                                  <p:stCondLst>
                                    <p:cond delay="0"/>
                                  </p:stCondLst>
                                  <p:childTnLst>
                                    <p:animEffect transition="out" filter="wheel(1)">
                                      <p:cBhvr>
                                        <p:cTn id="16" dur="2000"/>
                                        <p:tgtEl>
                                          <p:spTgt spid="3">
                                            <p:txEl>
                                              <p:pRg st="2" end="2"/>
                                            </p:txEl>
                                          </p:spTgt>
                                        </p:tgtEl>
                                      </p:cBhvr>
                                    </p:animEffect>
                                    <p:set>
                                      <p:cBhvr>
                                        <p:cTn id="17" dur="1" fill="hold">
                                          <p:stCondLst>
                                            <p:cond delay="19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3229B8-47B0-6DCB-02ED-9F62D758FC88}"/>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5F983B3D-E126-D918-78C5-BF487D189CB5}"/>
              </a:ext>
            </a:extLst>
          </p:cNvPr>
          <p:cNvSpPr>
            <a:spLocks noGrp="1"/>
          </p:cNvSpPr>
          <p:nvPr>
            <p:ph idx="1"/>
          </p:nvPr>
        </p:nvSpPr>
        <p:spPr/>
        <p:txBody>
          <a:bodyPr/>
          <a:lstStyle/>
          <a:p>
            <a:pPr marL="0" indent="0">
              <a:buNone/>
            </a:pPr>
            <a:r>
              <a:rPr lang="es-SV" b="1" dirty="0"/>
              <a:t>Objeto:</a:t>
            </a:r>
            <a:r>
              <a:rPr lang="es-SV" dirty="0"/>
              <a:t> Es una instancia de una clase dentro del sistema que participa en la interacción. Los objetos reciben y envían mensajes y se representan mediante un rectángulo con el nombre del objeto y, opcionalmente, la clase a la que pertenece. </a:t>
            </a:r>
          </a:p>
          <a:p>
            <a:pPr marL="0" indent="0">
              <a:buNone/>
            </a:pPr>
            <a:r>
              <a:rPr lang="es-SV" b="1" dirty="0"/>
              <a:t>Línea de vida:</a:t>
            </a:r>
            <a:r>
              <a:rPr lang="es-SV" dirty="0"/>
              <a:t> Es una línea vertical que indica la existencia de un objeto a lo largo del tiempo durante la interacción. Comienza en el momento de creación del objeto y puede terminar con un aspa si el objeto deja de existir.</a:t>
            </a:r>
          </a:p>
          <a:p>
            <a:endParaRPr lang="es-SV" dirty="0"/>
          </a:p>
        </p:txBody>
      </p:sp>
    </p:spTree>
    <p:extLst>
      <p:ext uri="{BB962C8B-B14F-4D97-AF65-F5344CB8AC3E}">
        <p14:creationId xmlns:p14="http://schemas.microsoft.com/office/powerpoint/2010/main" val="242683635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3">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grpId="0" nodeType="clickEffect">
                                  <p:stCondLst>
                                    <p:cond delay="0"/>
                                  </p:stCondLst>
                                  <p:iterate type="lt">
                                    <p:tmPct val="4000"/>
                                  </p:iterate>
                                  <p:childTnLst>
                                    <p:set>
                                      <p:cBhvr override="childStyle">
                                        <p:cTn id="10"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B69D65-4656-405A-C884-62FA487200CC}"/>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D33B0A93-9854-C348-5810-29B4D7FB728E}"/>
              </a:ext>
            </a:extLst>
          </p:cNvPr>
          <p:cNvSpPr>
            <a:spLocks noGrp="1"/>
          </p:cNvSpPr>
          <p:nvPr>
            <p:ph idx="1"/>
          </p:nvPr>
        </p:nvSpPr>
        <p:spPr/>
        <p:txBody>
          <a:bodyPr>
            <a:normAutofit lnSpcReduction="10000"/>
          </a:bodyPr>
          <a:lstStyle/>
          <a:p>
            <a:pPr marL="0" indent="0">
              <a:buNone/>
            </a:pPr>
            <a:r>
              <a:rPr lang="es-SV" b="1" dirty="0"/>
              <a:t>Mensaje:</a:t>
            </a:r>
            <a:r>
              <a:rPr lang="es-SV" dirty="0"/>
              <a:t> Señala la comunicación entre actores y objetos o entre objetos. Se representa mediante flechas dirigidas que indican el flujo de información o la invocación de métodos.</a:t>
            </a:r>
          </a:p>
          <a:p>
            <a:pPr marL="0" indent="0">
              <a:buNone/>
            </a:pPr>
            <a:r>
              <a:rPr lang="es-SV" b="1" dirty="0"/>
              <a:t>Activación:</a:t>
            </a:r>
            <a:r>
              <a:rPr lang="es-SV" dirty="0"/>
              <a:t> Representa el periodo en que un objeto está activo procesando información. Se dibuja como un rectángulo superpuesto a la línea de vida del objeto y muestra cuándo se ejecuta una operación.</a:t>
            </a:r>
          </a:p>
          <a:p>
            <a:pPr marL="0" indent="0">
              <a:buNone/>
            </a:pPr>
            <a:r>
              <a:rPr lang="es-SV" b="1" dirty="0"/>
              <a:t>Condiciones y decisiones:</a:t>
            </a:r>
            <a:r>
              <a:rPr lang="es-SV" dirty="0"/>
              <a:t> Se pueden colocar sobre los mensajes para indicar decisiones, alternativas o eventos específicos que afectan el flujo de la interacción. Esto permite modelar escenarios del tipo "si… entonces…".</a:t>
            </a:r>
          </a:p>
          <a:p>
            <a:pPr marL="0" indent="0">
              <a:buNone/>
            </a:pPr>
            <a:endParaRPr lang="es-SV" dirty="0"/>
          </a:p>
          <a:p>
            <a:endParaRPr lang="es-SV" dirty="0"/>
          </a:p>
        </p:txBody>
      </p:sp>
    </p:spTree>
    <p:extLst>
      <p:ext uri="{BB962C8B-B14F-4D97-AF65-F5344CB8AC3E}">
        <p14:creationId xmlns:p14="http://schemas.microsoft.com/office/powerpoint/2010/main" val="32730958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E2207-EC45-E788-2D30-E60C97C7D9ED}"/>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1951DB6F-6A1B-3467-DB06-C3A5C347AAF8}"/>
              </a:ext>
            </a:extLst>
          </p:cNvPr>
          <p:cNvSpPr>
            <a:spLocks noGrp="1"/>
          </p:cNvSpPr>
          <p:nvPr>
            <p:ph idx="1"/>
          </p:nvPr>
        </p:nvSpPr>
        <p:spPr/>
        <p:txBody>
          <a:bodyPr>
            <a:normAutofit lnSpcReduction="10000"/>
          </a:bodyPr>
          <a:lstStyle/>
          <a:p>
            <a:pPr marL="0" indent="0">
              <a:buNone/>
            </a:pPr>
            <a:r>
              <a:rPr lang="es-SV" b="1" dirty="0"/>
              <a:t>Marco o cuadro de interacción:</a:t>
            </a:r>
            <a:r>
              <a:rPr lang="es-SV" dirty="0"/>
              <a:t> Es un rectángulo que contiene todo el diagrama y puede incluir un pequeño rectángulo interior para etiquetar el diagrama, indicando el contexto o el caso de uso que se está modelando.</a:t>
            </a:r>
          </a:p>
          <a:p>
            <a:pPr marL="0" indent="0">
              <a:buNone/>
            </a:pPr>
            <a:r>
              <a:rPr lang="es-SV" b="1" dirty="0"/>
              <a:t>Dimensiones del Diagrama</a:t>
            </a:r>
            <a:endParaRPr lang="es-SV" dirty="0"/>
          </a:p>
          <a:p>
            <a:pPr marL="0" indent="0">
              <a:buNone/>
            </a:pPr>
            <a:r>
              <a:rPr lang="es-SV" b="1" dirty="0"/>
              <a:t>Horizontal:</a:t>
            </a:r>
            <a:r>
              <a:rPr lang="es-SV" dirty="0"/>
              <a:t> Representa los objetos y actores que participan en la secuencia.</a:t>
            </a:r>
          </a:p>
          <a:p>
            <a:pPr marL="0" indent="0">
              <a:buNone/>
            </a:pPr>
            <a:r>
              <a:rPr lang="es-SV" b="1" dirty="0"/>
              <a:t>Vertical:</a:t>
            </a:r>
            <a:r>
              <a:rPr lang="es-SV" dirty="0"/>
              <a:t> Representa el tiempo, descendiendo desde el inicio de la interacción hacia el final, mostrando el orden de los mensajes y eventos.</a:t>
            </a:r>
          </a:p>
          <a:p>
            <a:endParaRPr lang="es-SV" dirty="0"/>
          </a:p>
        </p:txBody>
      </p:sp>
    </p:spTree>
    <p:extLst>
      <p:ext uri="{BB962C8B-B14F-4D97-AF65-F5344CB8AC3E}">
        <p14:creationId xmlns:p14="http://schemas.microsoft.com/office/powerpoint/2010/main" val="2580249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5D9A55-4160-456F-3892-9450C4F79079}"/>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30BC0650-AB0D-C6D7-3324-DCCAFCA71232}"/>
              </a:ext>
            </a:extLst>
          </p:cNvPr>
          <p:cNvSpPr>
            <a:spLocks noGrp="1"/>
          </p:cNvSpPr>
          <p:nvPr>
            <p:ph idx="1"/>
          </p:nvPr>
        </p:nvSpPr>
        <p:spPr/>
        <p:txBody>
          <a:bodyPr/>
          <a:lstStyle/>
          <a:p>
            <a:pPr marL="0" indent="0">
              <a:buNone/>
            </a:pPr>
            <a:r>
              <a:rPr lang="es-SV" b="1" dirty="0"/>
              <a:t>Función de los Elementos</a:t>
            </a:r>
            <a:endParaRPr lang="es-SV" dirty="0"/>
          </a:p>
          <a:p>
            <a:pPr marL="0" indent="0">
              <a:buNone/>
            </a:pPr>
            <a:r>
              <a:rPr lang="es-SV" dirty="0"/>
              <a:t>Cada elemento cumple un rol específico para clarificar cómo los objetos y actores interactúan en un sistema. Los diagramas de secuencia permiten visualizar el flujo de mensajes, comprender la lógica de procesos complejos y documentar escenarios de uso de manera clara y estructurada.</a:t>
            </a:r>
          </a:p>
          <a:p>
            <a:pPr marL="0" indent="0">
              <a:buNone/>
            </a:pPr>
            <a:r>
              <a:rPr lang="es-SV" dirty="0"/>
              <a:t>Conclusión</a:t>
            </a:r>
          </a:p>
          <a:p>
            <a:endParaRPr lang="es-SV" dirty="0"/>
          </a:p>
        </p:txBody>
      </p:sp>
    </p:spTree>
    <p:extLst>
      <p:ext uri="{BB962C8B-B14F-4D97-AF65-F5344CB8AC3E}">
        <p14:creationId xmlns:p14="http://schemas.microsoft.com/office/powerpoint/2010/main" val="393198861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9ACEE2-FC8C-9B29-A624-6371B1E47B86}"/>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368179D6-F505-1D79-47CC-253AD301359F}"/>
              </a:ext>
            </a:extLst>
          </p:cNvPr>
          <p:cNvSpPr>
            <a:spLocks noGrp="1"/>
          </p:cNvSpPr>
          <p:nvPr>
            <p:ph idx="1"/>
          </p:nvPr>
        </p:nvSpPr>
        <p:spPr/>
        <p:txBody>
          <a:bodyPr/>
          <a:lstStyle/>
          <a:p>
            <a:pPr marL="0" indent="0">
              <a:buNone/>
            </a:pPr>
            <a:r>
              <a:rPr lang="es-SV" b="1" dirty="0"/>
              <a:t>Resumen de diagramas de secuencia</a:t>
            </a:r>
            <a:endParaRPr lang="es-SV" dirty="0"/>
          </a:p>
          <a:p>
            <a:pPr marL="0" indent="0">
              <a:buNone/>
            </a:pPr>
            <a:r>
              <a:rPr lang="es-SV" dirty="0"/>
              <a:t>Los diagramas de secuencia son una herramienta fundamental en la ingeniería de software para visualizar las interacciones entre objetos en un sistema a lo largo del tiempo. Ayudan a comprender el comportamiento dinámico de un sistema, a diseñar su arquitectura y a documentar procesos complejos. Los diagramas de secuencia muestran la secuencia de mensajes intercambiados entre objetos y el orden en que ocurren estas interacciones, presentándolos como líneas de vida verticales y flechas horizontales.</a:t>
            </a:r>
          </a:p>
          <a:p>
            <a:endParaRPr lang="es-SV" dirty="0"/>
          </a:p>
        </p:txBody>
      </p:sp>
    </p:spTree>
    <p:extLst>
      <p:ext uri="{BB962C8B-B14F-4D97-AF65-F5344CB8AC3E}">
        <p14:creationId xmlns:p14="http://schemas.microsoft.com/office/powerpoint/2010/main" val="155033231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3">
                                            <p:txEl>
                                              <p:pRg st="0" end="0"/>
                                            </p:txEl>
                                          </p:spTgt>
                                        </p:tgtEl>
                                        <p:attrNameLst>
                                          <p:attrName>style.color</p:attrName>
                                        </p:attrNameLst>
                                      </p:cBhvr>
                                      <p:to>
                                        <a:schemeClr val="bg1"/>
                                      </p:to>
                                    </p:animClr>
                                    <p:animClr clrSpc="rgb" dir="cw">
                                      <p:cBhvr>
                                        <p:cTn id="7" dur="250" autoRev="1" fill="remove"/>
                                        <p:tgtEl>
                                          <p:spTgt spid="3">
                                            <p:txEl>
                                              <p:pRg st="0" end="0"/>
                                            </p:txEl>
                                          </p:spTgt>
                                        </p:tgtEl>
                                        <p:attrNameLst>
                                          <p:attrName>fillcolor</p:attrName>
                                        </p:attrNameLst>
                                      </p:cBhvr>
                                      <p:to>
                                        <a:schemeClr val="bg1"/>
                                      </p:to>
                                    </p:animClr>
                                    <p:set>
                                      <p:cBhvr>
                                        <p:cTn id="8" dur="250" autoRev="1" fill="remove"/>
                                        <p:tgtEl>
                                          <p:spTgt spid="3">
                                            <p:txEl>
                                              <p:pRg st="0" end="0"/>
                                            </p:txEl>
                                          </p:spTgt>
                                        </p:tgtEl>
                                        <p:attrNameLst>
                                          <p:attrName>fill.type</p:attrName>
                                        </p:attrNameLst>
                                      </p:cBhvr>
                                      <p:to>
                                        <p:strVal val="solid"/>
                                      </p:to>
                                    </p:set>
                                    <p:set>
                                      <p:cBhvr>
                                        <p:cTn id="9" dur="250" autoRev="1" fill="remove"/>
                                        <p:tgtEl>
                                          <p:spTgt spid="3">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grpId="0" nodeType="clickEffect">
                                  <p:stCondLst>
                                    <p:cond delay="0"/>
                                  </p:stCondLst>
                                  <p:childTnLst>
                                    <p:animClr clrSpc="rgb" dir="cw">
                                      <p:cBhvr override="childStyle">
                                        <p:cTn id="13" dur="250" autoRev="1" fill="remove"/>
                                        <p:tgtEl>
                                          <p:spTgt spid="3">
                                            <p:txEl>
                                              <p:pRg st="1" end="1"/>
                                            </p:txEl>
                                          </p:spTgt>
                                        </p:tgtEl>
                                        <p:attrNameLst>
                                          <p:attrName>style.color</p:attrName>
                                        </p:attrNameLst>
                                      </p:cBhvr>
                                      <p:to>
                                        <a:schemeClr val="bg1"/>
                                      </p:to>
                                    </p:animClr>
                                    <p:animClr clrSpc="rgb" dir="cw">
                                      <p:cBhvr>
                                        <p:cTn id="14" dur="250" autoRev="1" fill="remove"/>
                                        <p:tgtEl>
                                          <p:spTgt spid="3">
                                            <p:txEl>
                                              <p:pRg st="1" end="1"/>
                                            </p:txEl>
                                          </p:spTgt>
                                        </p:tgtEl>
                                        <p:attrNameLst>
                                          <p:attrName>fillcolor</p:attrName>
                                        </p:attrNameLst>
                                      </p:cBhvr>
                                      <p:to>
                                        <a:schemeClr val="bg1"/>
                                      </p:to>
                                    </p:animClr>
                                    <p:set>
                                      <p:cBhvr>
                                        <p:cTn id="15" dur="250" autoRev="1" fill="remove"/>
                                        <p:tgtEl>
                                          <p:spTgt spid="3">
                                            <p:txEl>
                                              <p:pRg st="1" end="1"/>
                                            </p:txEl>
                                          </p:spTgt>
                                        </p:tgtEl>
                                        <p:attrNameLst>
                                          <p:attrName>fill.type</p:attrName>
                                        </p:attrNameLst>
                                      </p:cBhvr>
                                      <p:to>
                                        <p:strVal val="solid"/>
                                      </p:to>
                                    </p:set>
                                    <p:set>
                                      <p:cBhvr>
                                        <p:cTn id="16" dur="250" autoRev="1" fill="remove"/>
                                        <p:tgtEl>
                                          <p:spTgt spid="3">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F0680C-2CD8-8BC5-34F6-A324E6C2554A}"/>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D89DF530-2CA8-2950-9A60-B35D1FBE72C8}"/>
              </a:ext>
            </a:extLst>
          </p:cNvPr>
          <p:cNvSpPr>
            <a:spLocks noGrp="1"/>
          </p:cNvSpPr>
          <p:nvPr>
            <p:ph idx="1"/>
          </p:nvPr>
        </p:nvSpPr>
        <p:spPr/>
        <p:txBody>
          <a:bodyPr/>
          <a:lstStyle/>
          <a:p>
            <a:pPr marL="0" indent="0">
              <a:buNone/>
            </a:pPr>
            <a:r>
              <a:rPr lang="es-SV" dirty="0"/>
              <a:t>Líneas de vida</a:t>
            </a:r>
          </a:p>
          <a:p>
            <a:pPr marL="0" indent="0">
              <a:buNone/>
            </a:pPr>
            <a:r>
              <a:rPr lang="es-SV" b="1" dirty="0"/>
              <a:t>¿Qué es una Línea de Vida?</a:t>
            </a:r>
            <a:endParaRPr lang="es-SV" dirty="0"/>
          </a:p>
          <a:p>
            <a:pPr marL="0" indent="0">
              <a:buNone/>
            </a:pPr>
            <a:r>
              <a:rPr lang="es-SV" dirty="0"/>
              <a:t>La </a:t>
            </a:r>
            <a:r>
              <a:rPr lang="es-SV" b="1" dirty="0"/>
              <a:t>línea de vida</a:t>
            </a:r>
            <a:r>
              <a:rPr lang="es-SV" dirty="0"/>
              <a:t> de un objeto es una línea vertical que representa la existencia de ese objeto en el diagrama de secuencia. Comienza cuando el objeto es creado y termina cuando es destruido. A lo largo de esta línea, se pueden observar las interacciones y mensajes que el objeto envía y recibe.</a:t>
            </a:r>
          </a:p>
          <a:p>
            <a:endParaRPr lang="es-SV" dirty="0"/>
          </a:p>
        </p:txBody>
      </p:sp>
    </p:spTree>
    <p:extLst>
      <p:ext uri="{BB962C8B-B14F-4D97-AF65-F5344CB8AC3E}">
        <p14:creationId xmlns:p14="http://schemas.microsoft.com/office/powerpoint/2010/main" val="26197376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D88130-92F5-79A3-4A0F-BE81456ACB98}"/>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2F6B40DC-6A78-3C3B-8B2C-DCB7D8A3CB50}"/>
              </a:ext>
            </a:extLst>
          </p:cNvPr>
          <p:cNvSpPr>
            <a:spLocks noGrp="1"/>
          </p:cNvSpPr>
          <p:nvPr>
            <p:ph idx="1"/>
          </p:nvPr>
        </p:nvSpPr>
        <p:spPr/>
        <p:txBody>
          <a:bodyPr/>
          <a:lstStyle/>
          <a:p>
            <a:pPr marL="0" indent="0">
              <a:buNone/>
            </a:pPr>
            <a:r>
              <a:rPr lang="es-SV" b="1" dirty="0"/>
              <a:t>Elementos Clave en un Diagrama de Secuencia</a:t>
            </a:r>
            <a:endParaRPr lang="es-SV" dirty="0"/>
          </a:p>
          <a:p>
            <a:pPr marL="0" lvl="0" indent="0">
              <a:buNone/>
            </a:pPr>
            <a:r>
              <a:rPr lang="es-SV" b="1" dirty="0"/>
              <a:t>Activación</a:t>
            </a:r>
            <a:r>
              <a:rPr lang="es-SV" dirty="0"/>
              <a:t>: Representada por una barra horizontal en la línea de vida, indica el período durante el cual un objeto está activo y ejecutando un método. La barra comienza cuando el objeto recibe un mensaje y termina cuando envía uno. </a:t>
            </a:r>
          </a:p>
          <a:p>
            <a:pPr marL="0" lvl="0" indent="0">
              <a:buNone/>
            </a:pPr>
            <a:r>
              <a:rPr lang="es-SV" b="1" dirty="0"/>
              <a:t>Mensajes</a:t>
            </a:r>
            <a:r>
              <a:rPr lang="es-SV" dirty="0"/>
              <a:t>: Las interacciones entre objetos se representan mediante flechas que indican el envío de mensajes. Existen diferentes tipos de mensajes, como los síncronos (donde el remitente espera una respuesta) y los asíncronos (donde el remitente no espera).</a:t>
            </a:r>
          </a:p>
          <a:p>
            <a:endParaRPr lang="es-SV" dirty="0"/>
          </a:p>
        </p:txBody>
      </p:sp>
    </p:spTree>
    <p:extLst>
      <p:ext uri="{BB962C8B-B14F-4D97-AF65-F5344CB8AC3E}">
        <p14:creationId xmlns:p14="http://schemas.microsoft.com/office/powerpoint/2010/main" val="109679740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9A3CFE-A46E-0E4A-7B9A-83E63B6E7B12}"/>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E0B9348C-AB44-1A10-887A-749876A44CD4}"/>
              </a:ext>
            </a:extLst>
          </p:cNvPr>
          <p:cNvSpPr>
            <a:spLocks noGrp="1"/>
          </p:cNvSpPr>
          <p:nvPr>
            <p:ph idx="1"/>
          </p:nvPr>
        </p:nvSpPr>
        <p:spPr/>
        <p:txBody>
          <a:bodyPr>
            <a:normAutofit lnSpcReduction="10000"/>
          </a:bodyPr>
          <a:lstStyle/>
          <a:p>
            <a:pPr marL="0" indent="0">
              <a:buNone/>
            </a:pPr>
            <a:r>
              <a:rPr lang="es-SV" b="1" dirty="0"/>
              <a:t>Ejes</a:t>
            </a:r>
            <a:r>
              <a:rPr lang="es-SV" dirty="0"/>
              <a:t>: El eje vertical representa el tiempo, mientras que el eje horizontal muestra los objetos involucrados en la interacción. Esto permite visualizar cómo se desarrollan las interacciones a lo largo del tiempo.</a:t>
            </a:r>
          </a:p>
          <a:p>
            <a:pPr marL="0" indent="0">
              <a:buNone/>
            </a:pPr>
            <a:r>
              <a:rPr lang="es-SV" dirty="0"/>
              <a:t>Un diagrama de secuencia puede ser utilizado para modelar un proceso en un sistema de compras en línea, donde se muestra cómo un cliente interactúa con el sistema al agregar un producto al carrito, realizar un pago y recibir una confirmación. Cada uno de estos pasos se representaría con líneas de vida para el cliente, el carrito de compras y el procesador de pagos, junto con los mensajes intercambiados entre ellos.</a:t>
            </a:r>
          </a:p>
          <a:p>
            <a:endParaRPr lang="es-SV" dirty="0"/>
          </a:p>
        </p:txBody>
      </p:sp>
    </p:spTree>
    <p:extLst>
      <p:ext uri="{BB962C8B-B14F-4D97-AF65-F5344CB8AC3E}">
        <p14:creationId xmlns:p14="http://schemas.microsoft.com/office/powerpoint/2010/main" val="2497520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
                                        </p:tgtEl>
                                        <p:attrNameLst>
                                          <p:attrName>fillcolor</p:attrName>
                                        </p:attrNameLst>
                                      </p:cBhvr>
                                      <p:to>
                                        <a:schemeClr val="accent2"/>
                                      </p:to>
                                    </p:animClr>
                                    <p:set>
                                      <p:cBhvr>
                                        <p:cTn id="7" dur="2000" fill="hold"/>
                                        <p:tgtEl>
                                          <p:spTgt spid="3"/>
                                        </p:tgtEl>
                                        <p:attrNameLst>
                                          <p:attrName>fill.type</p:attrName>
                                        </p:attrNameLst>
                                      </p:cBhvr>
                                      <p:to>
                                        <p:strVal val="solid"/>
                                      </p:to>
                                    </p:set>
                                    <p:set>
                                      <p:cBhvr>
                                        <p:cTn id="8" dur="2000" fill="hold"/>
                                        <p:tgtEl>
                                          <p:spTgt spid="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C62829-C58C-299F-BA04-E4F155A59035}"/>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77234E10-B6F7-80E0-AD59-088B3722C140}"/>
              </a:ext>
            </a:extLst>
          </p:cNvPr>
          <p:cNvSpPr>
            <a:spLocks noGrp="1"/>
          </p:cNvSpPr>
          <p:nvPr>
            <p:ph idx="1"/>
          </p:nvPr>
        </p:nvSpPr>
        <p:spPr/>
        <p:txBody>
          <a:bodyPr/>
          <a:lstStyle/>
          <a:p>
            <a:pPr marL="0" indent="0">
              <a:buNone/>
            </a:pPr>
            <a:r>
              <a:rPr lang="es-SV" dirty="0"/>
              <a:t>Los diagramas de secuencia son herramientas poderosas para visualizar y entender la dinámica de un sistema, facilitando la comunicación entre desarrolladores y partes interesadas.</a:t>
            </a:r>
          </a:p>
          <a:p>
            <a:pPr marL="0" indent="0">
              <a:buNone/>
            </a:pPr>
            <a:r>
              <a:rPr lang="es-SV" dirty="0"/>
              <a:t>Mensajes de retorno</a:t>
            </a:r>
          </a:p>
          <a:p>
            <a:pPr marL="0" indent="0">
              <a:buNone/>
            </a:pPr>
            <a:r>
              <a:rPr lang="es-SV" b="1" dirty="0"/>
              <a:t>Representación Gráfica</a:t>
            </a:r>
            <a:endParaRPr lang="es-SV" dirty="0"/>
          </a:p>
          <a:p>
            <a:pPr marL="0" indent="0">
              <a:buNone/>
            </a:pPr>
            <a:r>
              <a:rPr lang="es-SV" dirty="0"/>
              <a:t>Se dibuja como una </a:t>
            </a:r>
            <a:r>
              <a:rPr lang="es-SV" b="1" dirty="0"/>
              <a:t>flecha discontinua</a:t>
            </a:r>
            <a:r>
              <a:rPr lang="es-SV" dirty="0"/>
              <a:t> (línea punteada) que apunta desde el objeto receptor hacia el objeto emisor del mensaje original. </a:t>
            </a:r>
          </a:p>
          <a:p>
            <a:endParaRPr lang="es-SV" dirty="0"/>
          </a:p>
        </p:txBody>
      </p:sp>
    </p:spTree>
    <p:extLst>
      <p:ext uri="{BB962C8B-B14F-4D97-AF65-F5344CB8AC3E}">
        <p14:creationId xmlns:p14="http://schemas.microsoft.com/office/powerpoint/2010/main" val="36418073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grpId="0" nodeType="clickEffect">
                                  <p:stCondLst>
                                    <p:cond delay="0"/>
                                  </p:stCondLst>
                                  <p:childTnLst>
                                    <p:animClr clrSpc="hsl" dir="cw">
                                      <p:cBhvr override="childStyle">
                                        <p:cTn id="6" dur="500" fill="hold"/>
                                        <p:tgtEl>
                                          <p:spTgt spid="3">
                                            <p:txEl>
                                              <p:pRg st="0" end="0"/>
                                            </p:txEl>
                                          </p:spTgt>
                                        </p:tgtEl>
                                        <p:attrNameLst>
                                          <p:attrName>style.color</p:attrName>
                                        </p:attrNameLst>
                                      </p:cBhvr>
                                      <p:by>
                                        <p:hsl h="0" s="12549" l="25098"/>
                                      </p:by>
                                    </p:animClr>
                                    <p:animClr clrSpc="hsl" dir="cw">
                                      <p:cBhvr>
                                        <p:cTn id="7" dur="500" fill="hold"/>
                                        <p:tgtEl>
                                          <p:spTgt spid="3">
                                            <p:txEl>
                                              <p:pRg st="0" end="0"/>
                                            </p:txEl>
                                          </p:spTgt>
                                        </p:tgtEl>
                                        <p:attrNameLst>
                                          <p:attrName>fillcolor</p:attrName>
                                        </p:attrNameLst>
                                      </p:cBhvr>
                                      <p:by>
                                        <p:hsl h="0" s="12549" l="25098"/>
                                      </p:by>
                                    </p:animClr>
                                    <p:animClr clrSpc="hsl" dir="cw">
                                      <p:cBhvr>
                                        <p:cTn id="8" dur="500" fill="hold"/>
                                        <p:tgtEl>
                                          <p:spTgt spid="3">
                                            <p:txEl>
                                              <p:pRg st="0" end="0"/>
                                            </p:txEl>
                                          </p:spTgt>
                                        </p:tgtEl>
                                        <p:attrNameLst>
                                          <p:attrName>stroke.color</p:attrName>
                                        </p:attrNameLst>
                                      </p:cBhvr>
                                      <p:by>
                                        <p:hsl h="0" s="12549" l="25098"/>
                                      </p:by>
                                    </p:animClr>
                                    <p:set>
                                      <p:cBhvr>
                                        <p:cTn id="9" dur="500" fill="hold"/>
                                        <p:tgtEl>
                                          <p:spTgt spid="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0" presetClass="emph" presetSubtype="0" fill="hold" grpId="0" nodeType="clickEffect">
                                  <p:stCondLst>
                                    <p:cond delay="0"/>
                                  </p:stCondLst>
                                  <p:childTnLst>
                                    <p:animClr clrSpc="hsl" dir="cw">
                                      <p:cBhvr override="childStyle">
                                        <p:cTn id="13" dur="500" fill="hold"/>
                                        <p:tgtEl>
                                          <p:spTgt spid="3">
                                            <p:txEl>
                                              <p:pRg st="1" end="1"/>
                                            </p:txEl>
                                          </p:spTgt>
                                        </p:tgtEl>
                                        <p:attrNameLst>
                                          <p:attrName>style.color</p:attrName>
                                        </p:attrNameLst>
                                      </p:cBhvr>
                                      <p:by>
                                        <p:hsl h="0" s="12549" l="25098"/>
                                      </p:by>
                                    </p:animClr>
                                    <p:animClr clrSpc="hsl" dir="cw">
                                      <p:cBhvr>
                                        <p:cTn id="14" dur="500" fill="hold"/>
                                        <p:tgtEl>
                                          <p:spTgt spid="3">
                                            <p:txEl>
                                              <p:pRg st="1" end="1"/>
                                            </p:txEl>
                                          </p:spTgt>
                                        </p:tgtEl>
                                        <p:attrNameLst>
                                          <p:attrName>fillcolor</p:attrName>
                                        </p:attrNameLst>
                                      </p:cBhvr>
                                      <p:by>
                                        <p:hsl h="0" s="12549" l="25098"/>
                                      </p:by>
                                    </p:animClr>
                                    <p:animClr clrSpc="hsl" dir="cw">
                                      <p:cBhvr>
                                        <p:cTn id="15" dur="500" fill="hold"/>
                                        <p:tgtEl>
                                          <p:spTgt spid="3">
                                            <p:txEl>
                                              <p:pRg st="1" end="1"/>
                                            </p:txEl>
                                          </p:spTgt>
                                        </p:tgtEl>
                                        <p:attrNameLst>
                                          <p:attrName>stroke.color</p:attrName>
                                        </p:attrNameLst>
                                      </p:cBhvr>
                                      <p:by>
                                        <p:hsl h="0" s="12549" l="25098"/>
                                      </p:by>
                                    </p:animClr>
                                    <p:set>
                                      <p:cBhvr>
                                        <p:cTn id="16" dur="500" fill="hold"/>
                                        <p:tgtEl>
                                          <p:spTgt spid="3">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30" presetClass="emph" presetSubtype="0" fill="hold" grpId="0" nodeType="clickEffect">
                                  <p:stCondLst>
                                    <p:cond delay="0"/>
                                  </p:stCondLst>
                                  <p:childTnLst>
                                    <p:animClr clrSpc="hsl" dir="cw">
                                      <p:cBhvr override="childStyle">
                                        <p:cTn id="20" dur="500" fill="hold"/>
                                        <p:tgtEl>
                                          <p:spTgt spid="3">
                                            <p:txEl>
                                              <p:pRg st="2" end="2"/>
                                            </p:txEl>
                                          </p:spTgt>
                                        </p:tgtEl>
                                        <p:attrNameLst>
                                          <p:attrName>style.color</p:attrName>
                                        </p:attrNameLst>
                                      </p:cBhvr>
                                      <p:by>
                                        <p:hsl h="0" s="12549" l="25098"/>
                                      </p:by>
                                    </p:animClr>
                                    <p:animClr clrSpc="hsl" dir="cw">
                                      <p:cBhvr>
                                        <p:cTn id="21" dur="500" fill="hold"/>
                                        <p:tgtEl>
                                          <p:spTgt spid="3">
                                            <p:txEl>
                                              <p:pRg st="2" end="2"/>
                                            </p:txEl>
                                          </p:spTgt>
                                        </p:tgtEl>
                                        <p:attrNameLst>
                                          <p:attrName>fillcolor</p:attrName>
                                        </p:attrNameLst>
                                      </p:cBhvr>
                                      <p:by>
                                        <p:hsl h="0" s="12549" l="25098"/>
                                      </p:by>
                                    </p:animClr>
                                    <p:animClr clrSpc="hsl" dir="cw">
                                      <p:cBhvr>
                                        <p:cTn id="22" dur="500" fill="hold"/>
                                        <p:tgtEl>
                                          <p:spTgt spid="3">
                                            <p:txEl>
                                              <p:pRg st="2" end="2"/>
                                            </p:txEl>
                                          </p:spTgt>
                                        </p:tgtEl>
                                        <p:attrNameLst>
                                          <p:attrName>stroke.color</p:attrName>
                                        </p:attrNameLst>
                                      </p:cBhvr>
                                      <p:by>
                                        <p:hsl h="0" s="12549" l="25098"/>
                                      </p:by>
                                    </p:animClr>
                                    <p:set>
                                      <p:cBhvr>
                                        <p:cTn id="23" dur="500" fill="hold"/>
                                        <p:tgtEl>
                                          <p:spTgt spid="3">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30" presetClass="emph" presetSubtype="0" fill="hold" grpId="0" nodeType="clickEffect">
                                  <p:stCondLst>
                                    <p:cond delay="0"/>
                                  </p:stCondLst>
                                  <p:childTnLst>
                                    <p:animClr clrSpc="hsl" dir="cw">
                                      <p:cBhvr override="childStyle">
                                        <p:cTn id="27" dur="500" fill="hold"/>
                                        <p:tgtEl>
                                          <p:spTgt spid="3">
                                            <p:txEl>
                                              <p:pRg st="3" end="3"/>
                                            </p:txEl>
                                          </p:spTgt>
                                        </p:tgtEl>
                                        <p:attrNameLst>
                                          <p:attrName>style.color</p:attrName>
                                        </p:attrNameLst>
                                      </p:cBhvr>
                                      <p:by>
                                        <p:hsl h="0" s="12549" l="25098"/>
                                      </p:by>
                                    </p:animClr>
                                    <p:animClr clrSpc="hsl" dir="cw">
                                      <p:cBhvr>
                                        <p:cTn id="28" dur="500" fill="hold"/>
                                        <p:tgtEl>
                                          <p:spTgt spid="3">
                                            <p:txEl>
                                              <p:pRg st="3" end="3"/>
                                            </p:txEl>
                                          </p:spTgt>
                                        </p:tgtEl>
                                        <p:attrNameLst>
                                          <p:attrName>fillcolor</p:attrName>
                                        </p:attrNameLst>
                                      </p:cBhvr>
                                      <p:by>
                                        <p:hsl h="0" s="12549" l="25098"/>
                                      </p:by>
                                    </p:animClr>
                                    <p:animClr clrSpc="hsl" dir="cw">
                                      <p:cBhvr>
                                        <p:cTn id="29" dur="500" fill="hold"/>
                                        <p:tgtEl>
                                          <p:spTgt spid="3">
                                            <p:txEl>
                                              <p:pRg st="3" end="3"/>
                                            </p:txEl>
                                          </p:spTgt>
                                        </p:tgtEl>
                                        <p:attrNameLst>
                                          <p:attrName>stroke.color</p:attrName>
                                        </p:attrNameLst>
                                      </p:cBhvr>
                                      <p:by>
                                        <p:hsl h="0" s="12549" l="25098"/>
                                      </p:by>
                                    </p:animClr>
                                    <p:set>
                                      <p:cBhvr>
                                        <p:cTn id="30"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10CDE7-6EC4-79B4-E84D-6E804C64290F}"/>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732D9ECA-1C04-BD49-8D76-BF7ABA6E6E88}"/>
              </a:ext>
            </a:extLst>
          </p:cNvPr>
          <p:cNvSpPr>
            <a:spLocks noGrp="1"/>
          </p:cNvSpPr>
          <p:nvPr>
            <p:ph idx="1"/>
          </p:nvPr>
        </p:nvSpPr>
        <p:spPr/>
        <p:txBody>
          <a:bodyPr/>
          <a:lstStyle/>
          <a:p>
            <a:pPr marL="0" indent="0">
              <a:buNone/>
            </a:pPr>
            <a:r>
              <a:rPr lang="es-SV" dirty="0"/>
              <a:t>A menudo se acompaña de un </a:t>
            </a:r>
            <a:r>
              <a:rPr lang="es-SV" b="1" dirty="0"/>
              <a:t>valor de retorno</a:t>
            </a:r>
            <a:r>
              <a:rPr lang="es-SV" dirty="0"/>
              <a:t> o resultado de la operación.</a:t>
            </a:r>
          </a:p>
          <a:p>
            <a:pPr marL="0" indent="0">
              <a:buNone/>
            </a:pPr>
            <a:r>
              <a:rPr lang="es-SV" dirty="0"/>
              <a:t>La flecha indica que el emisor puede continuar su ejecución después de recibir la respuesta, mostrando la sincronización entre objetos.</a:t>
            </a:r>
          </a:p>
          <a:p>
            <a:pPr marL="0" indent="0">
              <a:buNone/>
            </a:pPr>
            <a:r>
              <a:rPr lang="es-SV" b="1" dirty="0"/>
              <a:t>Diferencias con Otros Mensajes</a:t>
            </a:r>
            <a:endParaRPr lang="es-SV" dirty="0"/>
          </a:p>
          <a:p>
            <a:pPr marL="0" indent="0">
              <a:buNone/>
            </a:pPr>
            <a:r>
              <a:rPr lang="es-SV" b="1" dirty="0"/>
              <a:t>Mensaje de llamada</a:t>
            </a:r>
            <a:r>
              <a:rPr lang="es-SV" dirty="0"/>
              <a:t>: Flecha sólida que indica la invocación de una operación en otro objeto.</a:t>
            </a:r>
          </a:p>
          <a:p>
            <a:endParaRPr lang="es-SV" dirty="0"/>
          </a:p>
        </p:txBody>
      </p:sp>
    </p:spTree>
    <p:extLst>
      <p:ext uri="{BB962C8B-B14F-4D97-AF65-F5344CB8AC3E}">
        <p14:creationId xmlns:p14="http://schemas.microsoft.com/office/powerpoint/2010/main" val="209160690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8062FA-E614-DB2C-22CB-B5DCEACAE6DA}"/>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9E63FF97-96B2-81D4-23CF-0AD1BDC642FF}"/>
              </a:ext>
            </a:extLst>
          </p:cNvPr>
          <p:cNvSpPr>
            <a:spLocks noGrp="1"/>
          </p:cNvSpPr>
          <p:nvPr>
            <p:ph idx="1"/>
          </p:nvPr>
        </p:nvSpPr>
        <p:spPr/>
        <p:txBody>
          <a:bodyPr/>
          <a:lstStyle/>
          <a:p>
            <a:pPr marL="0" indent="0">
              <a:buNone/>
            </a:pPr>
            <a:r>
              <a:rPr lang="es-SV" b="1" dirty="0"/>
              <a:t>Mensaje propio o recursivo</a:t>
            </a:r>
            <a:r>
              <a:rPr lang="es-SV" dirty="0"/>
              <a:t>: Comunicación dentro del mismo objeto, representando la llamada a un método propio.</a:t>
            </a:r>
          </a:p>
          <a:p>
            <a:pPr marL="0" indent="0">
              <a:buNone/>
            </a:pPr>
            <a:r>
              <a:rPr lang="es-SV" b="1" dirty="0"/>
              <a:t>Mensaje de creación</a:t>
            </a:r>
            <a:r>
              <a:rPr lang="es-SV" dirty="0"/>
              <a:t>: Instanciación de un nuevo objeto.</a:t>
            </a:r>
          </a:p>
          <a:p>
            <a:pPr marL="0" indent="0">
              <a:buNone/>
            </a:pPr>
            <a:r>
              <a:rPr lang="es-SV" b="1" dirty="0"/>
              <a:t>Mensaje de destrucción</a:t>
            </a:r>
            <a:r>
              <a:rPr lang="es-SV" dirty="0"/>
              <a:t>: Solicitud de eliminar un objeto.</a:t>
            </a:r>
          </a:p>
          <a:p>
            <a:pPr marL="0" indent="0">
              <a:buNone/>
            </a:pPr>
            <a:r>
              <a:rPr lang="es-SV" b="1" dirty="0"/>
              <a:t>Uso en Diagramas de Secuencia</a:t>
            </a:r>
            <a:endParaRPr lang="es-SV" dirty="0"/>
          </a:p>
          <a:p>
            <a:pPr marL="0" indent="0">
              <a:buNone/>
            </a:pPr>
            <a:r>
              <a:rPr lang="es-SV" dirty="0"/>
              <a:t>Los mensajes de retorno son útiles para:</a:t>
            </a:r>
          </a:p>
          <a:p>
            <a:pPr marL="0" indent="0">
              <a:buNone/>
            </a:pPr>
            <a:r>
              <a:rPr lang="es-SV" b="1" dirty="0"/>
              <a:t>Visualizar la respuesta de un sistema</a:t>
            </a:r>
            <a:r>
              <a:rPr lang="es-SV" dirty="0"/>
              <a:t> ante una solicitud de un actor o componente.</a:t>
            </a:r>
          </a:p>
          <a:p>
            <a:endParaRPr lang="es-SV" dirty="0"/>
          </a:p>
        </p:txBody>
      </p:sp>
    </p:spTree>
    <p:extLst>
      <p:ext uri="{BB962C8B-B14F-4D97-AF65-F5344CB8AC3E}">
        <p14:creationId xmlns:p14="http://schemas.microsoft.com/office/powerpoint/2010/main" val="2331847925"/>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3">
                                            <p:txEl>
                                              <p:pRg st="1" end="1"/>
                                            </p:txEl>
                                          </p:spTgt>
                                        </p:tgtEl>
                                      </p:cBhvr>
                                    </p:animEffect>
                                    <p:set>
                                      <p:cBhvr>
                                        <p:cTn id="12"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3">
                                            <p:txEl>
                                              <p:pRg st="2" end="2"/>
                                            </p:txEl>
                                          </p:spTgt>
                                        </p:tgtEl>
                                      </p:cBhvr>
                                    </p:animEffect>
                                    <p:set>
                                      <p:cBhvr>
                                        <p:cTn id="17"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3">
                                            <p:txEl>
                                              <p:pRg st="3" end="3"/>
                                            </p:txEl>
                                          </p:spTgt>
                                        </p:tgtEl>
                                      </p:cBhvr>
                                    </p:animEffect>
                                    <p:set>
                                      <p:cBhvr>
                                        <p:cTn id="22"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3">
                                            <p:txEl>
                                              <p:pRg st="4" end="4"/>
                                            </p:txEl>
                                          </p:spTgt>
                                        </p:tgtEl>
                                      </p:cBhvr>
                                    </p:animEffect>
                                    <p:set>
                                      <p:cBhvr>
                                        <p:cTn id="27" dur="1" fill="hold">
                                          <p:stCondLst>
                                            <p:cond delay="499"/>
                                          </p:stCondLst>
                                        </p:cTn>
                                        <p:tgtEl>
                                          <p:spTgt spid="3">
                                            <p:txEl>
                                              <p:pRg st="4" end="4"/>
                                            </p:txEl>
                                          </p:spTgt>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3">
                                            <p:txEl>
                                              <p:pRg st="5" end="5"/>
                                            </p:txEl>
                                          </p:spTgt>
                                        </p:tgtEl>
                                      </p:cBhvr>
                                    </p:animEffect>
                                    <p:set>
                                      <p:cBhvr>
                                        <p:cTn id="32" dur="1" fill="hold">
                                          <p:stCondLst>
                                            <p:cond delay="499"/>
                                          </p:stCondLst>
                                        </p:cTn>
                                        <p:tgtEl>
                                          <p:spTgt spid="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5DC3E4-1886-39EF-882E-F11D0A1022DF}"/>
              </a:ext>
            </a:extLst>
          </p:cNvPr>
          <p:cNvSpPr>
            <a:spLocks noGrp="1"/>
          </p:cNvSpPr>
          <p:nvPr>
            <p:ph type="title"/>
          </p:nvPr>
        </p:nvSpPr>
        <p:spPr/>
        <p:txBody>
          <a:bodyPr/>
          <a:lstStyle/>
          <a:p>
            <a:endParaRPr lang="es-SV"/>
          </a:p>
        </p:txBody>
      </p:sp>
      <p:sp>
        <p:nvSpPr>
          <p:cNvPr id="3" name="Marcador de contenido 2">
            <a:extLst>
              <a:ext uri="{FF2B5EF4-FFF2-40B4-BE49-F238E27FC236}">
                <a16:creationId xmlns:a16="http://schemas.microsoft.com/office/drawing/2014/main" id="{1B253ED3-AD58-E792-203C-3E79E8E50056}"/>
              </a:ext>
            </a:extLst>
          </p:cNvPr>
          <p:cNvSpPr>
            <a:spLocks noGrp="1"/>
          </p:cNvSpPr>
          <p:nvPr>
            <p:ph idx="1"/>
          </p:nvPr>
        </p:nvSpPr>
        <p:spPr/>
        <p:txBody>
          <a:bodyPr/>
          <a:lstStyle/>
          <a:p>
            <a:pPr marL="0" indent="0">
              <a:buNone/>
            </a:pPr>
            <a:r>
              <a:rPr lang="es-SV" b="1" dirty="0"/>
              <a:t>Documentar la duración de la actividad</a:t>
            </a:r>
            <a:r>
              <a:rPr lang="es-SV" dirty="0"/>
              <a:t> de un objeto mediante barras de activación.</a:t>
            </a:r>
          </a:p>
          <a:p>
            <a:pPr marL="0" indent="0">
              <a:buNone/>
            </a:pPr>
            <a:r>
              <a:rPr lang="es-SV" b="1" dirty="0"/>
              <a:t>Aclarar la secuencia temporal</a:t>
            </a:r>
            <a:r>
              <a:rPr lang="es-SV" dirty="0"/>
              <a:t> de interacciones, especialmente en sistemas complejos o distribuidos. </a:t>
            </a:r>
          </a:p>
          <a:p>
            <a:pPr marL="0" indent="0">
              <a:buNone/>
            </a:pPr>
            <a:r>
              <a:rPr lang="es-SV" dirty="0"/>
              <a:t>Por ejemplo, en un sistema de tienda en línea, cuando un usuario solicita procesar un pago, el </a:t>
            </a:r>
            <a:r>
              <a:rPr lang="es-SV" b="1" dirty="0"/>
              <a:t>mensaje de retorno</a:t>
            </a:r>
            <a:r>
              <a:rPr lang="es-SV" dirty="0"/>
              <a:t> indicará si la transacción fue exitosa o fallida, permitiendo que el flujo continúe según la respuesta recibida.</a:t>
            </a:r>
          </a:p>
          <a:p>
            <a:endParaRPr lang="es-SV" dirty="0"/>
          </a:p>
        </p:txBody>
      </p:sp>
    </p:spTree>
    <p:extLst>
      <p:ext uri="{BB962C8B-B14F-4D97-AF65-F5344CB8AC3E}">
        <p14:creationId xmlns:p14="http://schemas.microsoft.com/office/powerpoint/2010/main" val="230912818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grpId="0" nodeType="clickEffect">
                                  <p:stCondLst>
                                    <p:cond delay="0"/>
                                  </p:stCondLst>
                                  <p:childTnLst>
                                    <p:animEffect transition="out" filter="circle(out)">
                                      <p:cBhvr>
                                        <p:cTn id="6" dur="2000"/>
                                        <p:tgtEl>
                                          <p:spTgt spid="3">
                                            <p:txEl>
                                              <p:pRg st="0" end="0"/>
                                            </p:txEl>
                                          </p:spTgt>
                                        </p:tgtEl>
                                      </p:cBhvr>
                                    </p:animEffect>
                                    <p:set>
                                      <p:cBhvr>
                                        <p:cTn id="7"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6" presetClass="exit" presetSubtype="32" fill="hold" grpId="0" nodeType="clickEffect">
                                  <p:stCondLst>
                                    <p:cond delay="0"/>
                                  </p:stCondLst>
                                  <p:childTnLst>
                                    <p:animEffect transition="out" filter="circle(out)">
                                      <p:cBhvr>
                                        <p:cTn id="11" dur="2000"/>
                                        <p:tgtEl>
                                          <p:spTgt spid="3">
                                            <p:txEl>
                                              <p:pRg st="1" end="1"/>
                                            </p:txEl>
                                          </p:spTgt>
                                        </p:tgtEl>
                                      </p:cBhvr>
                                    </p:animEffect>
                                    <p:set>
                                      <p:cBhvr>
                                        <p:cTn id="12" dur="1" fill="hold">
                                          <p:stCondLst>
                                            <p:cond delay="1999"/>
                                          </p:stCondLst>
                                        </p:cTn>
                                        <p:tgtEl>
                                          <p:spTgt spid="3">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xit" presetSubtype="32" fill="hold" grpId="0" nodeType="clickEffect">
                                  <p:stCondLst>
                                    <p:cond delay="0"/>
                                  </p:stCondLst>
                                  <p:childTnLst>
                                    <p:animEffect transition="out" filter="circle(out)">
                                      <p:cBhvr>
                                        <p:cTn id="16" dur="2000"/>
                                        <p:tgtEl>
                                          <p:spTgt spid="3">
                                            <p:txEl>
                                              <p:pRg st="2" end="2"/>
                                            </p:txEl>
                                          </p:spTgt>
                                        </p:tgtEl>
                                      </p:cBhvr>
                                    </p:animEffect>
                                    <p:set>
                                      <p:cBhvr>
                                        <p:cTn id="17" dur="1" fill="hold">
                                          <p:stCondLst>
                                            <p:cond delay="19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Berlín">
  <a:themeElements>
    <a:clrScheme name="Berlí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í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í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TM04033917[[fn=Berlín]]</Template>
  <TotalTime>997</TotalTime>
  <Words>1699</Words>
  <Application>Microsoft Office PowerPoint</Application>
  <PresentationFormat>Panorámica</PresentationFormat>
  <Paragraphs>74</Paragraphs>
  <Slides>24</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24</vt:i4>
      </vt:variant>
    </vt:vector>
  </HeadingPairs>
  <TitlesOfParts>
    <vt:vector size="27" baseType="lpstr">
      <vt:lpstr>Arial</vt:lpstr>
      <vt:lpstr>Trebuchet MS</vt:lpstr>
      <vt:lpstr>Berlín</vt:lpstr>
      <vt:lpstr>Diagrama de Secuencia: Líneas de vida, Mensajes y Retornos.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Diego</dc:creator>
  <cp:lastModifiedBy>Diego</cp:lastModifiedBy>
  <cp:revision>1</cp:revision>
  <dcterms:created xsi:type="dcterms:W3CDTF">2026-04-07T20:15:36Z</dcterms:created>
  <dcterms:modified xsi:type="dcterms:W3CDTF">2026-04-13T16:15:42Z</dcterms:modified>
</cp:coreProperties>
</file>