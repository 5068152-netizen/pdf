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embeddedFontLst>
    <p:embeddedFont>
      <p:font typeface="Century Gothic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iWICAsC+7UeFLMKdUxbd9WTCmv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CenturyGothic-regular.fntdata"/><Relationship Id="rId25" Type="http://schemas.openxmlformats.org/officeDocument/2006/relationships/slide" Target="slides/slide21.xml"/><Relationship Id="rId28" Type="http://schemas.openxmlformats.org/officeDocument/2006/relationships/font" Target="fonts/CenturyGothic-italic.fntdata"/><Relationship Id="rId27" Type="http://schemas.openxmlformats.org/officeDocument/2006/relationships/font" Target="fonts/CenturyGothic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CenturyGothic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2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/>
          <p:nvPr>
            <p:ph type="title"/>
          </p:nvPr>
        </p:nvSpPr>
        <p:spPr>
          <a:xfrm>
            <a:off x="1154956" y="2861733"/>
            <a:ext cx="882565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" type="body"/>
          </p:nvPr>
        </p:nvSpPr>
        <p:spPr>
          <a:xfrm>
            <a:off x="1154955" y="4777381"/>
            <a:ext cx="882565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2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1" type="body"/>
          </p:nvPr>
        </p:nvSpPr>
        <p:spPr>
          <a:xfrm>
            <a:off x="1103312" y="2060575"/>
            <a:ext cx="4396339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20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60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60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8" name="Google Shape;38;p26"/>
          <p:cNvSpPr txBox="1"/>
          <p:nvPr>
            <p:ph idx="2" type="body"/>
          </p:nvPr>
        </p:nvSpPr>
        <p:spPr>
          <a:xfrm>
            <a:off x="5654493" y="2056092"/>
            <a:ext cx="4396341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20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60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60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9" name="Google Shape;39;p2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7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1" type="body"/>
          </p:nvPr>
        </p:nvSpPr>
        <p:spPr>
          <a:xfrm>
            <a:off x="1103313" y="1905000"/>
            <a:ext cx="43963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2" type="body"/>
          </p:nvPr>
        </p:nvSpPr>
        <p:spPr>
          <a:xfrm>
            <a:off x="1103312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20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60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60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6" name="Google Shape;46;p27"/>
          <p:cNvSpPr txBox="1"/>
          <p:nvPr>
            <p:ph idx="3" type="body"/>
          </p:nvPr>
        </p:nvSpPr>
        <p:spPr>
          <a:xfrm>
            <a:off x="5654495" y="1905000"/>
            <a:ext cx="439633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7" name="Google Shape;47;p27"/>
          <p:cNvSpPr txBox="1"/>
          <p:nvPr>
            <p:ph idx="4" type="body"/>
          </p:nvPr>
        </p:nvSpPr>
        <p:spPr>
          <a:xfrm>
            <a:off x="5654495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20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60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60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8" name="Google Shape;48;p2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8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0"/>
          <p:cNvSpPr txBox="1"/>
          <p:nvPr>
            <p:ph type="title"/>
          </p:nvPr>
        </p:nvSpPr>
        <p:spPr>
          <a:xfrm>
            <a:off x="1154953" y="1447800"/>
            <a:ext cx="3401064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0"/>
          <p:cNvSpPr txBox="1"/>
          <p:nvPr>
            <p:ph idx="1" type="body"/>
          </p:nvPr>
        </p:nvSpPr>
        <p:spPr>
          <a:xfrm>
            <a:off x="4784616" y="1447800"/>
            <a:ext cx="519599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20" lvl="3" marL="1828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63" name="Google Shape;63;p30"/>
          <p:cNvSpPr txBox="1"/>
          <p:nvPr>
            <p:ph idx="2" type="body"/>
          </p:nvPr>
        </p:nvSpPr>
        <p:spPr>
          <a:xfrm>
            <a:off x="1154953" y="3129280"/>
            <a:ext cx="3401063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4" name="Google Shape;64;p3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1"/>
          <p:cNvSpPr txBox="1"/>
          <p:nvPr>
            <p:ph type="title"/>
          </p:nvPr>
        </p:nvSpPr>
        <p:spPr>
          <a:xfrm>
            <a:off x="1153907" y="1854192"/>
            <a:ext cx="5092906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1"/>
          <p:cNvSpPr/>
          <p:nvPr>
            <p:ph idx="2" type="pic"/>
          </p:nvPr>
        </p:nvSpPr>
        <p:spPr>
          <a:xfrm>
            <a:off x="6949546" y="1143000"/>
            <a:ext cx="3200400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70" name="Google Shape;70;p31"/>
          <p:cNvSpPr txBox="1"/>
          <p:nvPr>
            <p:ph idx="1" type="body"/>
          </p:nvPr>
        </p:nvSpPr>
        <p:spPr>
          <a:xfrm>
            <a:off x="1154954" y="3657600"/>
            <a:ext cx="50849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>
            <a:off x="1154956" y="4800587"/>
            <a:ext cx="882565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/>
          <p:nvPr>
            <p:ph idx="2" type="pic"/>
          </p:nvPr>
        </p:nvSpPr>
        <p:spPr>
          <a:xfrm>
            <a:off x="1154955" y="685800"/>
            <a:ext cx="882565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77" name="Google Shape;77;p32"/>
          <p:cNvSpPr txBox="1"/>
          <p:nvPr>
            <p:ph idx="1" type="body"/>
          </p:nvPr>
        </p:nvSpPr>
        <p:spPr>
          <a:xfrm>
            <a:off x="1154956" y="5367325"/>
            <a:ext cx="882565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8" name="Google Shape;78;p3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3"/>
          <p:cNvSpPr txBox="1"/>
          <p:nvPr>
            <p:ph type="title"/>
          </p:nvPr>
        </p:nvSpPr>
        <p:spPr>
          <a:xfrm>
            <a:off x="1154954" y="1447800"/>
            <a:ext cx="8825659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1" type="body"/>
          </p:nvPr>
        </p:nvSpPr>
        <p:spPr>
          <a:xfrm>
            <a:off x="1154954" y="3657600"/>
            <a:ext cx="882565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4" name="Google Shape;84;p3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4"/>
          <p:cNvSpPr txBox="1"/>
          <p:nvPr>
            <p:ph type="title"/>
          </p:nvPr>
        </p:nvSpPr>
        <p:spPr>
          <a:xfrm>
            <a:off x="1574801" y="1447800"/>
            <a:ext cx="7999315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4"/>
          <p:cNvSpPr txBox="1"/>
          <p:nvPr>
            <p:ph idx="1" type="body"/>
          </p:nvPr>
        </p:nvSpPr>
        <p:spPr>
          <a:xfrm>
            <a:off x="1930400" y="3771174"/>
            <a:ext cx="727964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0" name="Google Shape;90;p34"/>
          <p:cNvSpPr txBox="1"/>
          <p:nvPr>
            <p:ph idx="2" type="body"/>
          </p:nvPr>
        </p:nvSpPr>
        <p:spPr>
          <a:xfrm>
            <a:off x="1154954" y="4350657"/>
            <a:ext cx="8825659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3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SV"/>
              <a:t>‹#›</a:t>
            </a:fld>
            <a:endParaRPr/>
          </a:p>
        </p:txBody>
      </p:sp>
      <p:sp>
        <p:nvSpPr>
          <p:cNvPr id="94" name="Google Shape;94;p34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SV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5" name="Google Shape;95;p3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SV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5"/>
          <p:cNvSpPr txBox="1"/>
          <p:nvPr>
            <p:ph type="title"/>
          </p:nvPr>
        </p:nvSpPr>
        <p:spPr>
          <a:xfrm>
            <a:off x="1154954" y="3124201"/>
            <a:ext cx="8825660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5"/>
          <p:cNvSpPr txBox="1"/>
          <p:nvPr>
            <p:ph idx="1" type="body"/>
          </p:nvPr>
        </p:nvSpPr>
        <p:spPr>
          <a:xfrm>
            <a:off x="1154954" y="4777381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3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6"/>
          <p:cNvSpPr txBox="1"/>
          <p:nvPr>
            <p:ph idx="1" type="body"/>
          </p:nvPr>
        </p:nvSpPr>
        <p:spPr>
          <a:xfrm>
            <a:off x="632947" y="198120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5" name="Google Shape;105;p36"/>
          <p:cNvSpPr txBox="1"/>
          <p:nvPr>
            <p:ph idx="2" type="body"/>
          </p:nvPr>
        </p:nvSpPr>
        <p:spPr>
          <a:xfrm>
            <a:off x="652463" y="266700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6" name="Google Shape;106;p36"/>
          <p:cNvSpPr txBox="1"/>
          <p:nvPr>
            <p:ph idx="3" type="body"/>
          </p:nvPr>
        </p:nvSpPr>
        <p:spPr>
          <a:xfrm>
            <a:off x="3883659" y="198120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7" name="Google Shape;107;p36"/>
          <p:cNvSpPr txBox="1"/>
          <p:nvPr>
            <p:ph idx="4" type="body"/>
          </p:nvPr>
        </p:nvSpPr>
        <p:spPr>
          <a:xfrm>
            <a:off x="3873106" y="266700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8" name="Google Shape;108;p36"/>
          <p:cNvSpPr txBox="1"/>
          <p:nvPr>
            <p:ph idx="5" type="body"/>
          </p:nvPr>
        </p:nvSpPr>
        <p:spPr>
          <a:xfrm>
            <a:off x="7124700" y="198120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9" name="Google Shape;109;p36"/>
          <p:cNvSpPr txBox="1"/>
          <p:nvPr>
            <p:ph idx="6" type="body"/>
          </p:nvPr>
        </p:nvSpPr>
        <p:spPr>
          <a:xfrm>
            <a:off x="7124700" y="266700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10" name="Google Shape;110;p36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36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3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7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7"/>
          <p:cNvSpPr txBox="1"/>
          <p:nvPr>
            <p:ph idx="1" type="body"/>
          </p:nvPr>
        </p:nvSpPr>
        <p:spPr>
          <a:xfrm>
            <a:off x="652463" y="4250949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8" name="Google Shape;118;p37"/>
          <p:cNvSpPr/>
          <p:nvPr>
            <p:ph idx="2" type="pic"/>
          </p:nvPr>
        </p:nvSpPr>
        <p:spPr>
          <a:xfrm>
            <a:off x="652463" y="2209800"/>
            <a:ext cx="294005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119" name="Google Shape;119;p37"/>
          <p:cNvSpPr txBox="1"/>
          <p:nvPr>
            <p:ph idx="3" type="body"/>
          </p:nvPr>
        </p:nvSpPr>
        <p:spPr>
          <a:xfrm>
            <a:off x="652463" y="4827211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0" name="Google Shape;120;p37"/>
          <p:cNvSpPr txBox="1"/>
          <p:nvPr>
            <p:ph idx="4" type="body"/>
          </p:nvPr>
        </p:nvSpPr>
        <p:spPr>
          <a:xfrm>
            <a:off x="3889375" y="4250949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1" name="Google Shape;121;p37"/>
          <p:cNvSpPr/>
          <p:nvPr>
            <p:ph idx="5" type="pic"/>
          </p:nvPr>
        </p:nvSpPr>
        <p:spPr>
          <a:xfrm>
            <a:off x="3889374" y="2209800"/>
            <a:ext cx="2930525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122" name="Google Shape;122;p37"/>
          <p:cNvSpPr txBox="1"/>
          <p:nvPr>
            <p:ph idx="6" type="body"/>
          </p:nvPr>
        </p:nvSpPr>
        <p:spPr>
          <a:xfrm>
            <a:off x="3888022" y="4827210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3" name="Google Shape;123;p37"/>
          <p:cNvSpPr txBox="1"/>
          <p:nvPr>
            <p:ph idx="7" type="body"/>
          </p:nvPr>
        </p:nvSpPr>
        <p:spPr>
          <a:xfrm>
            <a:off x="7124700" y="4250949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4" name="Google Shape;124;p37"/>
          <p:cNvSpPr/>
          <p:nvPr>
            <p:ph idx="8" type="pic"/>
          </p:nvPr>
        </p:nvSpPr>
        <p:spPr>
          <a:xfrm>
            <a:off x="7124699" y="2209800"/>
            <a:ext cx="2932113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3137"/>
              </a:srgbClr>
            </a:outerShdw>
          </a:effectLst>
        </p:spPr>
      </p:sp>
      <p:sp>
        <p:nvSpPr>
          <p:cNvPr id="125" name="Google Shape;125;p37"/>
          <p:cNvSpPr txBox="1"/>
          <p:nvPr>
            <p:ph idx="9" type="body"/>
          </p:nvPr>
        </p:nvSpPr>
        <p:spPr>
          <a:xfrm>
            <a:off x="7124575" y="4827208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26" name="Google Shape;126;p37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37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3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8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8"/>
          <p:cNvSpPr txBox="1"/>
          <p:nvPr>
            <p:ph idx="1" type="body"/>
          </p:nvPr>
        </p:nvSpPr>
        <p:spPr>
          <a:xfrm rot="5400000">
            <a:off x="3478842" y="-322612"/>
            <a:ext cx="4195481" cy="8946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3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9"/>
          <p:cNvSpPr txBox="1"/>
          <p:nvPr>
            <p:ph type="title"/>
          </p:nvPr>
        </p:nvSpPr>
        <p:spPr>
          <a:xfrm rot="5400000">
            <a:off x="6267450" y="2466975"/>
            <a:ext cx="5826125" cy="1752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9"/>
          <p:cNvSpPr txBox="1"/>
          <p:nvPr>
            <p:ph idx="1" type="body"/>
          </p:nvPr>
        </p:nvSpPr>
        <p:spPr>
          <a:xfrm rot="5400000">
            <a:off x="1679576" y="-139699"/>
            <a:ext cx="5368924" cy="7423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3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SV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6.xml"/><Relationship Id="rId22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5.xml"/><Relationship Id="rId21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23" Type="http://schemas.openxmlformats.org/officeDocument/2006/relationships/theme" Target="../theme/theme2.xml"/><Relationship Id="rId1" Type="http://schemas.openxmlformats.org/officeDocument/2006/relationships/image" Target="../media/image5.png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19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.xml"/><Relationship Id="rId1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22"/>
          <p:cNvPicPr preferRelativeResize="0"/>
          <p:nvPr/>
        </p:nvPicPr>
        <p:blipFill rotWithShape="1">
          <a:blip r:embed="rId2">
            <a:alphaModFix/>
          </a:blip>
          <a:srcRect b="0" l="3613" r="0" t="0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22"/>
          <p:cNvPicPr preferRelativeResize="0"/>
          <p:nvPr/>
        </p:nvPicPr>
        <p:blipFill rotWithShape="1">
          <a:blip r:embed="rId3">
            <a:alphaModFix/>
          </a:blip>
          <a:srcRect b="0" l="35640" r="0" t="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2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7058"/>
                </a:srgbClr>
              </a:gs>
              <a:gs pos="36000">
                <a:srgbClr val="4CB9C3">
                  <a:alpha val="5882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" name="Google Shape;9;p22"/>
          <p:cNvPicPr preferRelativeResize="0"/>
          <p:nvPr/>
        </p:nvPicPr>
        <p:blipFill rotWithShape="1">
          <a:blip r:embed="rId4">
            <a:alphaModFix/>
          </a:blip>
          <a:srcRect b="0" l="0" r="0"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2"/>
          <p:cNvPicPr preferRelativeResize="0"/>
          <p:nvPr/>
        </p:nvPicPr>
        <p:blipFill rotWithShape="1">
          <a:blip r:embed="rId5">
            <a:alphaModFix/>
          </a:blip>
          <a:srcRect b="23320" l="0" r="0" t="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2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20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" name="Google Shape;15;p2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" name="Google Shape;16;p2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SV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64" r:id="rId21"/>
    <p:sldLayoutId id="2147483665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</a:pPr>
            <a:r>
              <a:rPr lang="es-SV"/>
              <a:t>Principios de ui</a:t>
            </a:r>
            <a:endParaRPr/>
          </a:p>
        </p:txBody>
      </p:sp>
      <p:sp>
        <p:nvSpPr>
          <p:cNvPr id="148" name="Google Shape;148;p1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s-SV"/>
              <a:t>Principios de ui</a:t>
            </a:r>
            <a:endParaRPr/>
          </a:p>
        </p:txBody>
      </p:sp>
      <p:sp>
        <p:nvSpPr>
          <p:cNvPr id="154" name="Google Shape;154;p2"/>
          <p:cNvSpPr txBox="1"/>
          <p:nvPr>
            <p:ph idx="1" type="body"/>
          </p:nvPr>
        </p:nvSpPr>
        <p:spPr>
          <a:xfrm>
            <a:off x="838200" y="1825625"/>
            <a:ext cx="10515600" cy="466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1. Claridad:</a:t>
            </a:r>
            <a:r>
              <a:rPr lang="es-SV"/>
              <a:t> Cada elemento de la interfaz debe tener un propósito claro y ser fácilmente comprensible. Esto reduce la carga cognitiva y evita frustración, por ejemplo, usando etiquetas precisas en formularios y botones con texto explícito como "Iniciar sesión" en lugar de "Enviar".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2. Consistencia:</a:t>
            </a:r>
            <a:r>
              <a:rPr lang="es-SV"/>
              <a:t> Mantener uniformidad en colores, tipografía, iconos, botones y navegación permite que los usuarios comprendan y predigan el comportamiento de la interfaz, mejorando la familiaridad y la eficiencia.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3. Jerarquía Visual:</a:t>
            </a:r>
            <a:r>
              <a:rPr lang="es-SV"/>
              <a:t> Organizar los elementos según su importancia mediante tamaño, color, posición y espacio en blanco guía al usuario hacia la información más relevante y facilita la navegación.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4. Accesibilidad:</a:t>
            </a:r>
            <a:r>
              <a:rPr lang="es-SV"/>
              <a:t> Diseñar para todos los usuarios, incluyendo personas con discapacidades visuales o motoras, usando contraste adecuado, alternativas textuales y navegación mediante teclado.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60" name="Google Shape;160;p3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5. Control del Usuario:</a:t>
            </a:r>
            <a:r>
              <a:rPr lang="es-SV"/>
              <a:t> Permitir que los usuarios realicen acciones de manera intuitiva y reversible, evitando decisiones irreversibles y ofreciendo opciones claras para deshacer o corregir errores.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6. Retroalimentación Oportuna:</a:t>
            </a:r>
            <a:r>
              <a:rPr lang="es-SV"/>
              <a:t> Informar al usuario sobre el estado de sus acciones mediante mensajes claros, animaciones o cambios visuales, asegurando que comprendan el resultado de sus interacciones.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7. Simplicidad y Estructura:</a:t>
            </a:r>
            <a:r>
              <a:rPr lang="es-SV"/>
              <a:t> Evitar la saturación visual y mantener un diseño limpio con suficiente espacio en blanco, lo que facilita la comprensión y mejora la experiencia estética.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8. Enfoque en el Usuario:</a:t>
            </a:r>
            <a:r>
              <a:rPr lang="es-SV"/>
              <a:t> Colocar al usuario en el centro del diseño, entendiendo sus necesidades y expectativas, y creando interfaces que sean intuitivas y agradables de usar.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 p14:dur="1500">
    <p:split orient="vert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s-SV"/>
              <a:t>conclusión</a:t>
            </a:r>
            <a:endParaRPr/>
          </a:p>
        </p:txBody>
      </p:sp>
      <p:sp>
        <p:nvSpPr>
          <p:cNvPr id="172" name="Google Shape;172;p5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SV"/>
              <a:t>Al aplicar estos principios, los diseñadores pueden crear interfaces que no solo sean visualmente atractivas, sino también funcionales y fáciles de usar. Por ejemplo, un sitio de comercio electrónico con botones coherentes, navegación uniforme y mensajes de error claros mejora la experiencia del usuario y reduce la frustración. Además, mantener la identidad de marca consistente refuerza la confianza y familiaridad del usuario con el producto.</a:t>
            </a:r>
            <a:endParaRPr/>
          </a:p>
        </p:txBody>
      </p:sp>
    </p:spTree>
  </p:cSld>
  <p:clrMapOvr>
    <a:masterClrMapping/>
  </p:clrMapOvr>
  <p:transition p14:dur="100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s-SV"/>
              <a:t>características</a:t>
            </a:r>
            <a:endParaRPr/>
          </a:p>
        </p:txBody>
      </p:sp>
      <p:sp>
        <p:nvSpPr>
          <p:cNvPr id="178" name="Google Shape;178;p6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SV"/>
              <a:t>1.Los principios de UI son fundamentales para crear interfaces que no solo sean visualmente atractivas.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s-SV"/>
              <a:t>2.también proporcionen una experiencia de usuario excepcional.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s-SV"/>
              <a:t>3.Estos principios son las reglas no escritas que guían a los diseñadores a crear sitios web que no solo se vean bien.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s-SV"/>
              <a:t>4.sino que además proporcionen una experiencia de usuario excepcional.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s-SV"/>
              <a:t>elementos</a:t>
            </a:r>
            <a:endParaRPr/>
          </a:p>
        </p:txBody>
      </p:sp>
      <p:sp>
        <p:nvSpPr>
          <p:cNvPr id="184" name="Google Shape;184;p7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1.Claridad</a:t>
            </a:r>
            <a:r>
              <a:rPr lang="es-SV"/>
              <a:t>: Asegurarse de que cada elemento de una interfaz tiene un propósito claro y es fácilmente comprensible.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2.Simplicidad</a:t>
            </a:r>
            <a:r>
              <a:rPr lang="es-SV"/>
              <a:t>: Facilitar las tareas comunes y emplear un lenguaje claro para permitir al usuario interactuar sin esfuerzo.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3.Accesibilidad</a:t>
            </a:r>
            <a:r>
              <a:rPr lang="es-SV"/>
              <a:t>: Diseñar elementos accesibles, especialmente en pantallas táctiles, para una interacción más fácil y eficiente.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4.Jerarquía visual</a:t>
            </a:r>
            <a:r>
              <a:rPr lang="es-SV"/>
              <a:t>: Establecer un recorrido visual que guíe al usuario hacia los elementos más importantes.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5.Estructura</a:t>
            </a:r>
            <a:r>
              <a:rPr lang="es-SV"/>
              <a:t>: Organizar la información y los elementos de manera lógica y reconocible.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6.Espacio en blanco</a:t>
            </a:r>
            <a:r>
              <a:rPr lang="es-SV"/>
              <a:t>: Utilizar el espacio en blanco para ofrecer una estructura visual organizada y agradable.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7.Contraste</a:t>
            </a:r>
            <a:r>
              <a:rPr lang="es-SV"/>
              <a:t>: Asegurar un contraste adecuado para facilitar la legibilidad para todos los usuarios, incluidas personas con discapacidades visuales.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s-SV"/>
              <a:t>Funciones </a:t>
            </a:r>
            <a:endParaRPr/>
          </a:p>
        </p:txBody>
      </p:sp>
      <p:sp>
        <p:nvSpPr>
          <p:cNvPr id="196" name="Google Shape;196;p9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SV"/>
              <a:t>1.Los principios y funciones de la gestión son fundamentales para la organización y dirección de cualquier entidad.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s-SV"/>
              <a:t>2.Estos principios orientan a los organismos de dirección y definen los requisitos básicos del sistema.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s-SV"/>
              <a:t>3.la estructura y la organización de la gestión.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p14:dur="100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SV"/>
              <a:t>4.Algunos de los principios básicos de la gestión incluyen la combinación óptima de centralización y descentralización.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s-SV"/>
              <a:t>5.la dirección unipersonal, el principio de factibilidad científica, la planificación y la vinculación de derechos, obligaciones y responsabilidades.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s-SV"/>
              <a:t>6.Estos principios son esenciales para alcanzar los objetivos planeados para la empresa y son la clave del éxito de la gestión.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s-SV"/>
              <a:t>Pleca ux</a:t>
            </a:r>
            <a:endParaRPr/>
          </a:p>
        </p:txBody>
      </p:sp>
      <p:sp>
        <p:nvSpPr>
          <p:cNvPr id="208" name="Google Shape;208;p11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SV"/>
              <a:t>es la redacción centrada en la experiencia del usuario para guiarlo en interfaces.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s-SV"/>
              <a:t>Es la redacción de textos en interfaces (apps, webs) para mejorar la experiencia del usuario y guiarlo.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Función:</a:t>
            </a:r>
            <a:r>
              <a:rPr lang="es-SV"/>
              <a:t> Reduce la fricción, educa al usuario y comunica la voz de la marca.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Inclusión:</a:t>
            </a:r>
            <a:r>
              <a:rPr lang="es-SV"/>
              <a:t> El UX Writing estratégico se utiliza como herramienta de inclusión y empatía.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Ejemplos:</a:t>
            </a:r>
            <a:r>
              <a:rPr lang="es-SV"/>
              <a:t> Mensajes de bienvenida, validación de formularios, etiquetas de botones (microcopy).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s-SV"/>
              <a:t>Elementos:</a:t>
            </a:r>
            <a:endParaRPr/>
          </a:p>
        </p:txBody>
      </p:sp>
      <p:sp>
        <p:nvSpPr>
          <p:cNvPr id="214" name="Google Shape;214;p12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Función:</a:t>
            </a:r>
            <a:r>
              <a:rPr lang="es-SV"/>
              <a:t> Identifica el contenido de un proyecto multimedia y separa elementos.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Componentes:</a:t>
            </a:r>
            <a:r>
              <a:rPr lang="es-SV"/>
              <a:t> Incluye retícula, tipografía, color y forma según el diseño institucional.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s-SV"/>
              <a:t>Características:</a:t>
            </a:r>
            <a:endParaRPr/>
          </a:p>
        </p:txBody>
      </p:sp>
      <p:sp>
        <p:nvSpPr>
          <p:cNvPr id="220" name="Google Shape;220;p13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Definición:</a:t>
            </a:r>
            <a:r>
              <a:rPr lang="es-SV"/>
              <a:t> Es un signo auxiliar que actúa principalmente como separador o delimitador en contextos técnicos, informáticos o de métrica.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Forma:</a:t>
            </a:r>
            <a:r>
              <a:rPr lang="es-SV"/>
              <a:t> Es una barra vertical recta ().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Espaciado:</a:t>
            </a:r>
            <a:r>
              <a:rPr lang="es-SV"/>
              <a:t> Según la Real Academia Española (RAE), debe escribirse con espacios antes y después, a menos que separe elementos sin sentido de frase, como en códigos informáticos.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Ubicación en teclado:</a:t>
            </a:r>
            <a:r>
              <a:rPr lang="es-SV"/>
              <a:t> Se encuentra comúnmente junto al número "1" o en la tecla de admiración. Se accede con Alt Gr en PC o Alt en Mac.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Elemento de Identificación:</a:t>
            </a:r>
            <a:r>
              <a:rPr lang="es-SV"/>
              <a:t> En el diseño gráfico y multimedia, las plecas son elementos visuales (líneas) que ayudan a identificar, separar o enmarcar contenido.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226" name="Google Shape;226;p14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Estructura y Jerarquía:</a:t>
            </a:r>
            <a:r>
              <a:rPr lang="es-SV"/>
              <a:t> Se utilizan para organizar información visual, por ejemplo, separando el nombre de una sección del título principal en un sitio web.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Aporte Estético:</a:t>
            </a:r>
            <a:r>
              <a:rPr lang="es-SV"/>
              <a:t> Ofrece una estética limpia y moderna que ayuda a clasificar temas sin quitar protagonismo, siendo muy común en barras de navegación o en los títulos de blogs.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s-SV"/>
              <a:t>Función primaria:</a:t>
            </a:r>
            <a:r>
              <a:rPr b="1" lang="es-SV"/>
              <a:t> Informática:</a:t>
            </a:r>
            <a:r>
              <a:rPr lang="es-SV"/>
              <a:t> Actúa como operador de disyunción ("o") o para tuberías (</a:t>
            </a:r>
            <a:r>
              <a:rPr i="1" lang="es-SV"/>
              <a:t>pipes</a:t>
            </a:r>
            <a:r>
              <a:rPr lang="es-SV"/>
              <a:t>) en programación.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s-SV"/>
              <a:t>Principios de usabilidad:</a:t>
            </a:r>
            <a:endParaRPr/>
          </a:p>
        </p:txBody>
      </p:sp>
      <p:sp>
        <p:nvSpPr>
          <p:cNvPr id="232" name="Google Shape;232;p15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SV"/>
              <a:t>La usabilidad en los principios de UI (Interfaz de Usuario) es la medida en que una interfaz permite a los usuarios realizar tareas de manera eficiente, eficaz y satisfactoria. Se basa en reglas como la coherencia, visibilidad del sistema, prevención de errores y diseño minimalista para asegurar que el producto sea intuitivo, accesible y reduzca la carga cognitiva.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238" name="Google Shape;238;p16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Visibilidad del Estado del Sistema:</a:t>
            </a:r>
            <a:r>
              <a:rPr lang="es-SV"/>
              <a:t> Informar siempre al usuario sobre lo que está sucediendo (ej. barras de carga).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Coherencia y Estándares:</a:t>
            </a:r>
            <a:r>
              <a:rPr lang="es-SV"/>
              <a:t> Mantener consistencia en tipografía, colores, botones e iconos para evitar confusiones.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Control y Libertad del Usuario:</a:t>
            </a:r>
            <a:r>
              <a:rPr lang="es-SV"/>
              <a:t> Ofrecer salidas claras (como "deshacer" o "cancelar") si el usuario comete un error.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Prevención de Errores:</a:t>
            </a:r>
            <a:r>
              <a:rPr lang="es-SV"/>
              <a:t> Diseñar para evitar que ocurran errores en primer lugar, en lugar de solo mostrar mensajes de error.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randomBar dir="vert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244" name="Google Shape;244;p17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Reconocimiento en lugar de Recuerdo:</a:t>
            </a:r>
            <a:r>
              <a:rPr lang="es-SV"/>
              <a:t> Minimizar la carga de memoria del usuario haciendo visibles los elementos y opciones.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Diseño Estético y Minimalista:</a:t>
            </a:r>
            <a:r>
              <a:rPr lang="es-SV"/>
              <a:t> Eliminar elementos irrelevantes para enfocar la atención en la información importante.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Accesibilidad:</a:t>
            </a:r>
            <a:r>
              <a:rPr lang="es-SV"/>
              <a:t> Garantizar que el contraste y los componentes sean utilizables por personas con discapacidades.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s-SV"/>
              <a:t>heurísticas de Nielsen</a:t>
            </a:r>
            <a:endParaRPr/>
          </a:p>
        </p:txBody>
      </p:sp>
      <p:sp>
        <p:nvSpPr>
          <p:cNvPr id="250" name="Google Shape;250;p18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SV"/>
              <a:t>Las 10 heurísticas de Nielsen son principios fundamentales de usabilidad, desarrollados por Jakob Nielsen en 1994, para evaluar la interacción persona-ordenador en productos digitales. Actúan como guías generales para mejorar la experiencia de usuario (UX), facilitando interfaces intuitivas, eficientes y sin errores, fundamentales en el diseño moderno.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250">
        <p14:flip dir="l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256" name="Google Shape;256;p19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Visibilidad del estado del sistema:</a:t>
            </a:r>
            <a:r>
              <a:rPr lang="es-SV"/>
              <a:t> El sistema siempre debe informar al usuario sobre lo que está sucediendo a través de feedback oportuno.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Correspondencia entre el sistema y el mundo real:</a:t>
            </a:r>
            <a:r>
              <a:rPr lang="es-SV"/>
              <a:t> Utilizar el lenguaje, conceptos y convenciones del usuario, en lugar de tecnicismos.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Control y libertad del usuario:</a:t>
            </a:r>
            <a:r>
              <a:rPr lang="es-SV"/>
              <a:t> Proporcionar "salidas de emergencia" (deshacer, cancelar) para acciones realizadas por error.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Consistencia y estándares:</a:t>
            </a:r>
            <a:r>
              <a:rPr lang="es-SV"/>
              <a:t> Seguir las convenciones de la plataforma para que los usuarios no tengan que aprender nuevos significados.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262" name="Google Shape;262;p20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Prevención de errores:</a:t>
            </a:r>
            <a:r>
              <a:rPr lang="es-SV"/>
              <a:t> Diseñar para evitar que ocurran errores en primer lugar, o preguntar antes de confirmar una acción crítica.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Reconocimiento en lugar de recuerdo:</a:t>
            </a:r>
            <a:r>
              <a:rPr lang="es-SV"/>
              <a:t> Minimizar la carga de memoria del usuario mostrando opciones y acciones a la vista.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Flexibilidad y eficiencia de uso:</a:t>
            </a:r>
            <a:r>
              <a:rPr lang="es-SV"/>
              <a:t> Incluir aceleradores (atajos) para usuarios expertos, que sean invisibles para los principiantes.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1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268" name="Google Shape;268;p21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Diseño estético y minimalista:</a:t>
            </a:r>
            <a:r>
              <a:rPr lang="es-SV"/>
              <a:t> Evitar información irrelevante que compita con la información relevante.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Ayudar a los usuarios a reconocer, diagnosticar y recuperarse de errores:</a:t>
            </a:r>
            <a:r>
              <a:rPr lang="es-SV"/>
              <a:t> Los mensajes de error deben ser claros, en lenguaje humano y proponer soluciones.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s-SV"/>
              <a:t>Ayuda y documentación:</a:t>
            </a:r>
            <a:r>
              <a:rPr lang="es-SV"/>
              <a:t> Aunque es mejor que el sistema funcione sin ayuda, la documentación debe ser fácil de buscar y estar centrada en las tareas del usuario.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2026-04-28T13:11:18Z</dcterms:created>
  <dc:creator>Diego</dc:creator>
</cp:coreProperties>
</file>